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7377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COMMUNITY SAFETY NETWORK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2084070"/>
            <a:ext cx="7377684" cy="357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0" spc="-600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</a:t>
            </a:r>
            <a:pPr algn="l" indent="0" marL="0">
              <a:lnSpc>
                <a:spcPct val="92000"/>
              </a:lnSpc>
              <a:buNone/>
            </a:pPr>
            <a:r>
              <a:rPr lang="en-US" sz="15000" i="1" spc="-60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</a:t>
            </a:r>
            <a:pPr algn="l" indent="0" marL="0">
              <a:lnSpc>
                <a:spcPct val="92000"/>
              </a:lnSpc>
              <a:buNone/>
            </a:pPr>
            <a:r>
              <a:rPr lang="en-US" sz="15000" spc="-600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66800" y="5962650"/>
            <a:ext cx="5886450" cy="137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neighbour-powered first-response network for Singapore's most vulnerable.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66800" y="8492490"/>
            <a:ext cx="7377684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96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See Siang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6800" y="9052560"/>
            <a:ext cx="7377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· MAY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8" name="Shape 6"/>
          <p:cNvSpPr/>
          <p:nvPr/>
        </p:nvSpPr>
        <p:spPr>
          <a:xfrm>
            <a:off x="9620250" y="476250"/>
            <a:ext cx="2667000" cy="2667000"/>
          </a:xfrm>
          <a:prstGeom prst="ellipse">
            <a:avLst/>
          </a:prstGeom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06000" y="762000"/>
            <a:ext cx="2095500" cy="2095500"/>
          </a:xfrm>
          <a:prstGeom prst="ellipse">
            <a:avLst/>
          </a:prstGeom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480000">
            <a:off x="14285178" y="1143000"/>
            <a:ext cx="31100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spc="270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 RESPONSE RADIUS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944600" y="6096000"/>
            <a:ext cx="3429000" cy="3429000"/>
          </a:xfrm>
          <a:prstGeom prst="ellipse">
            <a:avLst/>
          </a:prstGeom>
          <a:ln w="1524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4233" y="7139940"/>
            <a:ext cx="111383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00" i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4814233" y="7886700"/>
            <a:ext cx="1765815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00" i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(friend)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3327738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590520" y="762000"/>
            <a:ext cx="18592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inspiration.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487930"/>
            <a:ext cx="7848600" cy="6461760"/>
          </a:xfrm>
          <a:prstGeom prst="roundRect">
            <a:avLst>
              <a:gd name="adj" fmla="val 590"/>
            </a:avLst>
          </a:prstGeom>
          <a:solidFill>
            <a:srgbClr val="16110D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097530"/>
            <a:ext cx="682828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STRAITS TIMES · SINGAPORE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24000" y="3733800"/>
            <a:ext cx="6828282" cy="2385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spc="-84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 Besar launches Fire Safety Kakis as first responders to help evacuate senior residents.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524000" y="6423660"/>
            <a:ext cx="682828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6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 Besar GRC · Community Initiative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24000" y="7059930"/>
            <a:ext cx="22860" cy="128016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11" name="Text 9"/>
          <p:cNvSpPr/>
          <p:nvPr/>
        </p:nvSpPr>
        <p:spPr>
          <a:xfrm>
            <a:off x="1813560" y="7059930"/>
            <a:ext cx="6538722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"Trained neighbours, on the ground in minutes — bridging the gap before SCDF arrives at the door."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2678430"/>
            <a:ext cx="8084058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spc="-84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GRC pilot to a national-scale platform.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525000" y="4232910"/>
            <a:ext cx="8084058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Jalan Besar Fire Safety Kakis showed what trained neighbours can do in the critical first minutes of an emergency. Fire Kaki digitises that idea — turning informal volunteer rosters into a real-time, location-aware response network that any community can adopt.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0" y="6728460"/>
            <a:ext cx="3790950" cy="2030730"/>
          </a:xfrm>
          <a:prstGeom prst="roundRect">
            <a:avLst>
              <a:gd name="adj" fmla="val 1876"/>
            </a:avLst>
          </a:prstGeom>
          <a:solidFill>
            <a:srgbClr val="EBE1D1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0" y="6728460"/>
            <a:ext cx="22860" cy="203073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16" name="Text 14"/>
          <p:cNvSpPr/>
          <p:nvPr/>
        </p:nvSpPr>
        <p:spPr>
          <a:xfrm>
            <a:off x="9814560" y="7033260"/>
            <a:ext cx="333173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A73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814560" y="7909560"/>
            <a:ext cx="3331731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radius — Neighbours and volunteers from all way of life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582650" y="6728460"/>
            <a:ext cx="3790950" cy="2030730"/>
          </a:xfrm>
          <a:prstGeom prst="roundRect">
            <a:avLst>
              <a:gd name="adj" fmla="val 1876"/>
            </a:avLst>
          </a:prstGeom>
          <a:solidFill>
            <a:srgbClr val="EBE1D1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82650" y="6728460"/>
            <a:ext cx="22860" cy="203073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20" name="Text 18"/>
          <p:cNvSpPr/>
          <p:nvPr/>
        </p:nvSpPr>
        <p:spPr>
          <a:xfrm>
            <a:off x="13872210" y="7033260"/>
            <a:ext cx="333173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A73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13872210" y="7909560"/>
            <a:ext cx="3331731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Frontends — Web, WhatsApp, iOS, Android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2079486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342269" y="762000"/>
            <a:ext cx="31222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now.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5933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is ageing, and the critical first minutes of an emergency belong to neighbours — not responders still en route.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764280"/>
            <a:ext cx="5257800" cy="4381500"/>
          </a:xfrm>
          <a:prstGeom prst="roundRect">
            <a:avLst>
              <a:gd name="adj" fmla="val 870"/>
            </a:avLst>
          </a:prstGeom>
          <a:solidFill>
            <a:srgbClr val="EBE1D1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764280"/>
            <a:ext cx="5257800" cy="3810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59580"/>
            <a:ext cx="463067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95400" y="4781550"/>
            <a:ext cx="463067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spc="-30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ageing population at home alone.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95400" y="5886450"/>
            <a:ext cx="463067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share of seniors live independently in HDB blocks. When fire, falls, or medical episodes happen, they may be unable to call for help, let alone evacuate without assistance.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15100" y="3764280"/>
            <a:ext cx="5257800" cy="4381500"/>
          </a:xfrm>
          <a:prstGeom prst="roundRect">
            <a:avLst>
              <a:gd name="adj" fmla="val 870"/>
            </a:avLst>
          </a:prstGeom>
          <a:solidFill>
            <a:srgbClr val="EBE1D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5100" y="3764280"/>
            <a:ext cx="5257800" cy="3810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896100" y="4259580"/>
            <a:ext cx="463067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96100" y="4781550"/>
            <a:ext cx="463067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spc="-30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5 minutes decide outcomes.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96100" y="5886450"/>
            <a:ext cx="463067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SCDF response is fast, but a trained neighbour 2 streets away is faster. There is no shared platform that connects vulnerable residents to nearby trained help in real time.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115800" y="3764280"/>
            <a:ext cx="5257800" cy="4381500"/>
          </a:xfrm>
          <a:prstGeom prst="roundRect">
            <a:avLst>
              <a:gd name="adj" fmla="val 870"/>
            </a:avLst>
          </a:prstGeom>
          <a:solidFill>
            <a:srgbClr val="EBE1D1"/>
          </a:solidFill>
          <a:ln/>
        </p:spPr>
      </p:sp>
      <p:sp>
        <p:nvSpPr>
          <p:cNvPr id="18" name="Shape 16"/>
          <p:cNvSpPr/>
          <p:nvPr/>
        </p:nvSpPr>
        <p:spPr>
          <a:xfrm>
            <a:off x="12115800" y="3764280"/>
            <a:ext cx="5257800" cy="3810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96800" y="4259580"/>
            <a:ext cx="463067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496800" y="4781550"/>
            <a:ext cx="463067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spc="-30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goodwill is fragmented.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2496800" y="5886450"/>
            <a:ext cx="463067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 like Jalan Besar's Fire Kakis prove the model works. But each GRC runs its own roster, on paper or chat groups — without verification, GPS targeting, or audit-ready data handling.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F4EDE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3862567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25349" y="762000"/>
            <a:ext cx="13244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53540"/>
            <a:ext cx="88773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2487930" y="1653540"/>
            <a:ext cx="15332241" cy="2195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spc="-96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 every neighbourhood with a verified, GPS-aware </a:t>
            </a:r>
            <a:pPr algn="l" indent="0" marL="0">
              <a:lnSpc>
                <a:spcPct val="118000"/>
              </a:lnSpc>
              <a:buNone/>
            </a:pPr>
            <a:r>
              <a:rPr lang="en-US" sz="4800" i="1" spc="-96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network </a:t>
            </a:r>
            <a:pPr algn="l" indent="0" marL="0">
              <a:lnSpc>
                <a:spcPct val="118000"/>
              </a:lnSpc>
              <a:buNone/>
            </a:pPr>
            <a:r>
              <a:rPr lang="en-US" sz="4800" spc="-96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that no vulnerable resident faces an emergency alone.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4573310"/>
            <a:ext cx="16459200" cy="9525"/>
          </a:xfrm>
          <a:prstGeom prst="rect">
            <a:avLst/>
          </a:prstGeom>
          <a:solidFill>
            <a:srgbClr val="F4EDE2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961930"/>
            <a:ext cx="538929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5407700"/>
            <a:ext cx="538929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block, every channel.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27721" y="4961930"/>
            <a:ext cx="538941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27721" y="5407700"/>
            <a:ext cx="538941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people, protected data.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141160" y="4961930"/>
            <a:ext cx="538941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141160" y="5407700"/>
            <a:ext cx="538941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alert to arrival in minutes.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2792790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055573" y="762000"/>
            <a:ext cx="239422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5933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user types with different needs, distinct permissions, and one shared purpose.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764280"/>
            <a:ext cx="8134350" cy="2957513"/>
          </a:xfrm>
          <a:prstGeom prst="roundRect">
            <a:avLst>
              <a:gd name="adj" fmla="val 1288"/>
            </a:avLst>
          </a:prstGeom>
          <a:solidFill>
            <a:srgbClr val="16110D"/>
          </a:solidFill>
          <a:ln/>
        </p:spPr>
      </p:sp>
      <p:sp>
        <p:nvSpPr>
          <p:cNvPr id="8" name="Shape 6"/>
          <p:cNvSpPr/>
          <p:nvPr/>
        </p:nvSpPr>
        <p:spPr>
          <a:xfrm>
            <a:off x="1219200" y="4030980"/>
            <a:ext cx="723900" cy="723900"/>
          </a:xfrm>
          <a:prstGeom prst="ellipse">
            <a:avLst/>
          </a:prstGeom>
          <a:solidFill>
            <a:srgbClr val="D04A1A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403098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09800" y="4030980"/>
            <a:ext cx="67301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spc="27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09800" y="4392930"/>
            <a:ext cx="6730174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spc="-25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steward.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209800" y="4844415"/>
            <a:ext cx="673017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and revokes rights across all roles. Holds full operational oversight; the only role authorised to deactivate emergencies.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9782" y="5598795"/>
            <a:ext cx="6750368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/ revoke any role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 emergencies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all lower roles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39250" y="3764280"/>
            <a:ext cx="8134350" cy="2957513"/>
          </a:xfrm>
          <a:prstGeom prst="roundRect">
            <a:avLst>
              <a:gd name="adj" fmla="val 1288"/>
            </a:avLst>
          </a:prstGeom>
          <a:solidFill>
            <a:srgbClr val="EBE1D1"/>
          </a:solidFill>
          <a:ln/>
        </p:spPr>
      </p:sp>
      <p:sp>
        <p:nvSpPr>
          <p:cNvPr id="15" name="Shape 13"/>
          <p:cNvSpPr/>
          <p:nvPr/>
        </p:nvSpPr>
        <p:spPr>
          <a:xfrm>
            <a:off x="9544050" y="4030980"/>
            <a:ext cx="723900" cy="723900"/>
          </a:xfrm>
          <a:prstGeom prst="ellipse">
            <a:avLst/>
          </a:prstGeom>
          <a:solidFill>
            <a:srgbClr val="E1D4BE"/>
          </a:solidFill>
          <a:ln/>
        </p:spPr>
      </p:sp>
      <p:sp>
        <p:nvSpPr>
          <p:cNvPr id="16" name="Text 14"/>
          <p:cNvSpPr/>
          <p:nvPr/>
        </p:nvSpPr>
        <p:spPr>
          <a:xfrm>
            <a:off x="9505950" y="403098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A73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534650" y="4030980"/>
            <a:ext cx="67301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34650" y="4392930"/>
            <a:ext cx="6730174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spc="-25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534650" y="4844415"/>
            <a:ext cx="673017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vulnerable registrations and their next-of-kin records. Authorised to activate Major emergencies on the ground.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394633" y="5598795"/>
            <a:ext cx="6750368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vulnerable profiles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Major emergencies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volunteer &amp; vulnerable details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14400" y="6912293"/>
            <a:ext cx="8134350" cy="3277553"/>
          </a:xfrm>
          <a:prstGeom prst="roundRect">
            <a:avLst>
              <a:gd name="adj" fmla="val 1162"/>
            </a:avLst>
          </a:prstGeom>
          <a:solidFill>
            <a:srgbClr val="EBE1D1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9200" y="7178993"/>
            <a:ext cx="723900" cy="723900"/>
          </a:xfrm>
          <a:prstGeom prst="ellipse">
            <a:avLst/>
          </a:prstGeom>
          <a:solidFill>
            <a:srgbClr val="E1D4B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7178993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A73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209800" y="7178993"/>
            <a:ext cx="67301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09800" y="7540943"/>
            <a:ext cx="6730174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spc="-25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trained neighbour.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2209800" y="7992428"/>
            <a:ext cx="6730174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Self-registers; shares GPS so the platform can match them to nearby incidents. Receives alerts and chooses to accept or decline.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069782" y="9066848"/>
            <a:ext cx="6750368" cy="89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GPS for matching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decline alerts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Vulnerable access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9239250" y="6912293"/>
            <a:ext cx="8134350" cy="3277553"/>
          </a:xfrm>
          <a:prstGeom prst="roundRect">
            <a:avLst>
              <a:gd name="adj" fmla="val 1162"/>
            </a:avLst>
          </a:prstGeom>
          <a:solidFill>
            <a:srgbClr val="EBE1D1"/>
          </a:solidFill>
          <a:ln/>
        </p:spPr>
      </p:sp>
      <p:sp>
        <p:nvSpPr>
          <p:cNvPr id="29" name="Shape 27"/>
          <p:cNvSpPr/>
          <p:nvPr/>
        </p:nvSpPr>
        <p:spPr>
          <a:xfrm>
            <a:off x="9544050" y="7178993"/>
            <a:ext cx="723900" cy="723900"/>
          </a:xfrm>
          <a:prstGeom prst="ellipse">
            <a:avLst/>
          </a:prstGeom>
          <a:solidFill>
            <a:srgbClr val="E1D4BE"/>
          </a:solidFill>
          <a:ln/>
        </p:spPr>
      </p:sp>
      <p:sp>
        <p:nvSpPr>
          <p:cNvPr id="30" name="Text 28"/>
          <p:cNvSpPr/>
          <p:nvPr/>
        </p:nvSpPr>
        <p:spPr>
          <a:xfrm>
            <a:off x="9505950" y="7178993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A73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534650" y="7178993"/>
            <a:ext cx="67301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534650" y="7540943"/>
            <a:ext cx="6730174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spc="-25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resident we protect.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534650" y="7992428"/>
            <a:ext cx="6730174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Self-registers with next-of-kin details, verified by Reviewer or Admin. Can request help — automatically classed as a Minor emergency.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394633" y="9066848"/>
            <a:ext cx="6750368" cy="89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with next-of-kin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 Reviewer / Admin</a:t>
            </a:r>
            <a:endParaRPr lang="en-US" sz="15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request for help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36" name="Text 34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261443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877216" y="762000"/>
            <a:ext cx="25725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HIERARCHY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roles, one chain of trust.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5933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inherits the access of the role below — concentrating power upward, accountability throughout.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764280"/>
            <a:ext cx="16459200" cy="1173480"/>
          </a:xfrm>
          <a:prstGeom prst="roundRect">
            <a:avLst>
              <a:gd name="adj" fmla="val 3247"/>
            </a:avLst>
          </a:prstGeom>
          <a:solidFill>
            <a:srgbClr val="16110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764280"/>
            <a:ext cx="53340" cy="1173480"/>
          </a:xfrm>
          <a:prstGeom prst="rect">
            <a:avLst/>
          </a:prstGeom>
          <a:solidFill>
            <a:srgbClr val="F0A35E"/>
          </a:solidFill>
          <a:ln/>
        </p:spPr>
      </p:sp>
      <p:sp>
        <p:nvSpPr>
          <p:cNvPr id="9" name="Text 7"/>
          <p:cNvSpPr/>
          <p:nvPr/>
        </p:nvSpPr>
        <p:spPr>
          <a:xfrm>
            <a:off x="1272540" y="4204335"/>
            <a:ext cx="838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339340" y="4057650"/>
            <a:ext cx="236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spc="-33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930140" y="4057650"/>
            <a:ext cx="983429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oversight. Grants and revokes rights across all user groups; sole role authorised to deactivate emergencies.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706600" y="4030980"/>
            <a:ext cx="23622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REVIEWER + VOLUNTEER + VULNERABLE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090160"/>
            <a:ext cx="16459200" cy="1120140"/>
          </a:xfrm>
          <a:prstGeom prst="roundRect">
            <a:avLst>
              <a:gd name="adj" fmla="val 3401"/>
            </a:avLst>
          </a:prstGeom>
          <a:solidFill>
            <a:srgbClr val="E1D4B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090160"/>
            <a:ext cx="53340" cy="1120140"/>
          </a:xfrm>
          <a:prstGeom prst="rect">
            <a:avLst/>
          </a:prstGeom>
          <a:solidFill>
            <a:srgbClr val="A73611"/>
          </a:solidFill>
          <a:ln/>
        </p:spPr>
      </p:sp>
      <p:sp>
        <p:nvSpPr>
          <p:cNvPr id="15" name="Text 13"/>
          <p:cNvSpPr/>
          <p:nvPr/>
        </p:nvSpPr>
        <p:spPr>
          <a:xfrm>
            <a:off x="1272540" y="5503545"/>
            <a:ext cx="838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339340" y="5356860"/>
            <a:ext cx="236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spc="-33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4930140" y="5356860"/>
            <a:ext cx="983429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vulnerable registrations and next-of-kin. Activates Major emergencies. Sees all volunteer &amp; vulnerable data.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706600" y="5436870"/>
            <a:ext cx="23622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VOLUNTEER + VULNERABLE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6362700"/>
            <a:ext cx="16459200" cy="1120140"/>
          </a:xfrm>
          <a:prstGeom prst="roundRect">
            <a:avLst>
              <a:gd name="adj" fmla="val 3401"/>
            </a:avLst>
          </a:prstGeom>
          <a:solidFill>
            <a:srgbClr val="EBE1D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6362700"/>
            <a:ext cx="53340" cy="112014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272540" y="6776085"/>
            <a:ext cx="838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339340" y="6629400"/>
            <a:ext cx="236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spc="-33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4930140" y="6629400"/>
            <a:ext cx="983429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Self-registers. Mandatory GPS for distance matching. Receives, accepts, or declines emergency alerts within 2 km.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706600" y="6816090"/>
            <a:ext cx="2362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VULNERABLE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7635240"/>
            <a:ext cx="16459200" cy="1120140"/>
          </a:xfrm>
          <a:prstGeom prst="roundRect">
            <a:avLst>
              <a:gd name="adj" fmla="val 3401"/>
            </a:avLst>
          </a:prstGeom>
          <a:solidFill>
            <a:srgbClr val="EBE1D1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7635240"/>
            <a:ext cx="53340" cy="112014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272540" y="8048625"/>
            <a:ext cx="838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2339340" y="7901940"/>
            <a:ext cx="236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spc="-33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4930140" y="8048625"/>
            <a:ext cx="983429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Self-registers with next-of-kin. Awaits verification. Can trigger Minor emergency by requesting help.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706600" y="8088630"/>
            <a:ext cx="2362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ROLE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32" name="Text 30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190124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164032" y="762000"/>
            <a:ext cx="330585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MATRIX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what.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3025140"/>
            <a:ext cx="6254472" cy="15240"/>
          </a:xfrm>
          <a:prstGeom prst="rect">
            <a:avLst/>
          </a:prstGeom>
          <a:solidFill>
            <a:srgbClr val="16110D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2640330"/>
            <a:ext cx="6099206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68872" y="3025140"/>
            <a:ext cx="3030974" cy="15240"/>
          </a:xfrm>
          <a:prstGeom prst="rect">
            <a:avLst/>
          </a:prstGeom>
          <a:solidFill>
            <a:srgbClr val="16110D"/>
          </a:solidFill>
          <a:ln/>
        </p:spPr>
      </p:sp>
      <p:sp>
        <p:nvSpPr>
          <p:cNvPr id="9" name="Text 7"/>
          <p:cNvSpPr/>
          <p:nvPr/>
        </p:nvSpPr>
        <p:spPr>
          <a:xfrm>
            <a:off x="7340322" y="2640330"/>
            <a:ext cx="2779003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199846" y="3025140"/>
            <a:ext cx="2791063" cy="15240"/>
          </a:xfrm>
          <a:prstGeom prst="rect">
            <a:avLst/>
          </a:prstGeom>
          <a:solidFill>
            <a:srgbClr val="16110D"/>
          </a:solidFill>
          <a:ln/>
        </p:spPr>
      </p:sp>
      <p:sp>
        <p:nvSpPr>
          <p:cNvPr id="11" name="Text 9"/>
          <p:cNvSpPr/>
          <p:nvPr/>
        </p:nvSpPr>
        <p:spPr>
          <a:xfrm>
            <a:off x="10371296" y="2640330"/>
            <a:ext cx="2531895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990909" y="3025140"/>
            <a:ext cx="2551271" cy="15240"/>
          </a:xfrm>
          <a:prstGeom prst="rect">
            <a:avLst/>
          </a:prstGeom>
          <a:solidFill>
            <a:srgbClr val="16110D"/>
          </a:solidFill>
          <a:ln/>
        </p:spPr>
      </p:sp>
      <p:sp>
        <p:nvSpPr>
          <p:cNvPr id="13" name="Text 11"/>
          <p:cNvSpPr/>
          <p:nvPr/>
        </p:nvSpPr>
        <p:spPr>
          <a:xfrm>
            <a:off x="13162359" y="2640330"/>
            <a:ext cx="2284909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5542180" y="2487930"/>
            <a:ext cx="1831419" cy="55245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542180" y="3025140"/>
            <a:ext cx="1831419" cy="15240"/>
          </a:xfrm>
          <a:prstGeom prst="rect">
            <a:avLst/>
          </a:prstGeom>
          <a:solidFill>
            <a:srgbClr val="16110D"/>
          </a:solidFill>
          <a:ln/>
        </p:spPr>
      </p:sp>
      <p:sp>
        <p:nvSpPr>
          <p:cNvPr id="16" name="Text 14"/>
          <p:cNvSpPr/>
          <p:nvPr/>
        </p:nvSpPr>
        <p:spPr>
          <a:xfrm>
            <a:off x="15713630" y="2640330"/>
            <a:ext cx="1564719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37223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85850" y="3192780"/>
            <a:ext cx="609920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Self-register profile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168872" y="37223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94858" y="3192780"/>
            <a:ext cx="2779003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199846" y="37223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329430" y="3192780"/>
            <a:ext cx="2531895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990909" y="37223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124090" y="3192780"/>
            <a:ext cx="2284909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5542180" y="3040380"/>
            <a:ext cx="1831419" cy="68961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42180" y="37223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5675530" y="3192780"/>
            <a:ext cx="1564719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14400" y="44081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85850" y="38823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next-of-kin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168872" y="44081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94858" y="38823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0199846" y="44081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329430" y="38823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2990909" y="44081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124090" y="38823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542180" y="37299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542180" y="44081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5675530" y="38823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14400" y="50939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85850" y="45681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help (→ Minor)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7168872" y="50939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294858" y="45681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0199846" y="50939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329430" y="45681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2990909" y="50939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3124090" y="45681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542180" y="44157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5542180" y="50939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5675530" y="45681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914400" y="57797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85850" y="52539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emergency alert (≤ 2 km)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7168872" y="57797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294858" y="52539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0199846" y="57797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329430" y="52539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12990909" y="57797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3124090" y="52539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15542180" y="51015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5542180" y="57797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5675530" y="52539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61" name="Shape 59"/>
          <p:cNvSpPr/>
          <p:nvPr/>
        </p:nvSpPr>
        <p:spPr>
          <a:xfrm>
            <a:off x="914400" y="64655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85850" y="59397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decline alert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7168872" y="64655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294858" y="59397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0199846" y="64655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329430" y="59397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12990909" y="64655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3124090" y="59397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69" name="Shape 67"/>
          <p:cNvSpPr/>
          <p:nvPr/>
        </p:nvSpPr>
        <p:spPr>
          <a:xfrm>
            <a:off x="15542180" y="57873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5542180" y="64655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5675530" y="59397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72" name="Shape 70"/>
          <p:cNvSpPr/>
          <p:nvPr/>
        </p:nvSpPr>
        <p:spPr>
          <a:xfrm>
            <a:off x="914400" y="71513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85850" y="66255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volunteer &amp; vulnerable details</a:t>
            </a:r>
            <a:endParaRPr lang="en-US" sz="1950" dirty="0"/>
          </a:p>
        </p:txBody>
      </p:sp>
      <p:sp>
        <p:nvSpPr>
          <p:cNvPr id="74" name="Shape 72"/>
          <p:cNvSpPr/>
          <p:nvPr/>
        </p:nvSpPr>
        <p:spPr>
          <a:xfrm>
            <a:off x="7168872" y="71513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294858" y="66255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10199846" y="71513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0329430" y="66255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78" name="Shape 76"/>
          <p:cNvSpPr/>
          <p:nvPr/>
        </p:nvSpPr>
        <p:spPr>
          <a:xfrm>
            <a:off x="12990909" y="71513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3124090" y="66255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80" name="Shape 78"/>
          <p:cNvSpPr/>
          <p:nvPr/>
        </p:nvSpPr>
        <p:spPr>
          <a:xfrm>
            <a:off x="15542180" y="64731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5542180" y="71513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5675530" y="66255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83" name="Shape 81"/>
          <p:cNvSpPr/>
          <p:nvPr/>
        </p:nvSpPr>
        <p:spPr>
          <a:xfrm>
            <a:off x="914400" y="78371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1085850" y="73113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vulnerable profile</a:t>
            </a:r>
            <a:endParaRPr lang="en-US" sz="1950" dirty="0"/>
          </a:p>
        </p:txBody>
      </p:sp>
      <p:sp>
        <p:nvSpPr>
          <p:cNvPr id="85" name="Shape 83"/>
          <p:cNvSpPr/>
          <p:nvPr/>
        </p:nvSpPr>
        <p:spPr>
          <a:xfrm>
            <a:off x="7168872" y="78371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7294858" y="73113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87" name="Shape 85"/>
          <p:cNvSpPr/>
          <p:nvPr/>
        </p:nvSpPr>
        <p:spPr>
          <a:xfrm>
            <a:off x="10199846" y="78371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10329430" y="73113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89" name="Shape 87"/>
          <p:cNvSpPr/>
          <p:nvPr/>
        </p:nvSpPr>
        <p:spPr>
          <a:xfrm>
            <a:off x="12990909" y="78371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13124090" y="73113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91" name="Shape 89"/>
          <p:cNvSpPr/>
          <p:nvPr/>
        </p:nvSpPr>
        <p:spPr>
          <a:xfrm>
            <a:off x="15542180" y="71589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5542180" y="78371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5675530" y="73113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94" name="Shape 92"/>
          <p:cNvSpPr/>
          <p:nvPr/>
        </p:nvSpPr>
        <p:spPr>
          <a:xfrm>
            <a:off x="914400" y="85229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085850" y="79971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Major emergency</a:t>
            </a:r>
            <a:endParaRPr lang="en-US" sz="1950" dirty="0"/>
          </a:p>
        </p:txBody>
      </p:sp>
      <p:sp>
        <p:nvSpPr>
          <p:cNvPr id="96" name="Shape 94"/>
          <p:cNvSpPr/>
          <p:nvPr/>
        </p:nvSpPr>
        <p:spPr>
          <a:xfrm>
            <a:off x="7168872" y="85229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7294858" y="79971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98" name="Shape 96"/>
          <p:cNvSpPr/>
          <p:nvPr/>
        </p:nvSpPr>
        <p:spPr>
          <a:xfrm>
            <a:off x="10199846" y="85229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10329430" y="79971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100" name="Shape 98"/>
          <p:cNvSpPr/>
          <p:nvPr/>
        </p:nvSpPr>
        <p:spPr>
          <a:xfrm>
            <a:off x="12990909" y="85229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13124090" y="79971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102" name="Shape 100"/>
          <p:cNvSpPr/>
          <p:nvPr/>
        </p:nvSpPr>
        <p:spPr>
          <a:xfrm>
            <a:off x="15542180" y="78447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5542180" y="85229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15675530" y="79971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105" name="Shape 103"/>
          <p:cNvSpPr/>
          <p:nvPr/>
        </p:nvSpPr>
        <p:spPr>
          <a:xfrm>
            <a:off x="914400" y="92087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1085850" y="86829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 emergency</a:t>
            </a:r>
            <a:endParaRPr lang="en-US" sz="1950" dirty="0"/>
          </a:p>
        </p:txBody>
      </p:sp>
      <p:sp>
        <p:nvSpPr>
          <p:cNvPr id="107" name="Shape 105"/>
          <p:cNvSpPr/>
          <p:nvPr/>
        </p:nvSpPr>
        <p:spPr>
          <a:xfrm>
            <a:off x="7168872" y="92087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7294858" y="86829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109" name="Shape 107"/>
          <p:cNvSpPr/>
          <p:nvPr/>
        </p:nvSpPr>
        <p:spPr>
          <a:xfrm>
            <a:off x="10199846" y="92087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10329430" y="86829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111" name="Shape 109"/>
          <p:cNvSpPr/>
          <p:nvPr/>
        </p:nvSpPr>
        <p:spPr>
          <a:xfrm>
            <a:off x="12990909" y="92087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13124090" y="86829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113" name="Shape 111"/>
          <p:cNvSpPr/>
          <p:nvPr/>
        </p:nvSpPr>
        <p:spPr>
          <a:xfrm>
            <a:off x="15542180" y="85305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15542180" y="92087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15" name="Text 113"/>
          <p:cNvSpPr/>
          <p:nvPr/>
        </p:nvSpPr>
        <p:spPr>
          <a:xfrm>
            <a:off x="15675530" y="86829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116" name="Shape 114"/>
          <p:cNvSpPr/>
          <p:nvPr/>
        </p:nvSpPr>
        <p:spPr>
          <a:xfrm>
            <a:off x="914400" y="9894570"/>
            <a:ext cx="625447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1085850" y="9368790"/>
            <a:ext cx="6099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/ revoke user rights</a:t>
            </a:r>
            <a:endParaRPr lang="en-US" sz="1950" dirty="0"/>
          </a:p>
        </p:txBody>
      </p:sp>
      <p:sp>
        <p:nvSpPr>
          <p:cNvPr id="118" name="Shape 116"/>
          <p:cNvSpPr/>
          <p:nvPr/>
        </p:nvSpPr>
        <p:spPr>
          <a:xfrm>
            <a:off x="7168872" y="9894570"/>
            <a:ext cx="30309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19" name="Text 117"/>
          <p:cNvSpPr/>
          <p:nvPr/>
        </p:nvSpPr>
        <p:spPr>
          <a:xfrm>
            <a:off x="7294858" y="9368790"/>
            <a:ext cx="277900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120" name="Shape 118"/>
          <p:cNvSpPr/>
          <p:nvPr/>
        </p:nvSpPr>
        <p:spPr>
          <a:xfrm>
            <a:off x="10199846" y="9894570"/>
            <a:ext cx="2791063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21" name="Text 119"/>
          <p:cNvSpPr/>
          <p:nvPr/>
        </p:nvSpPr>
        <p:spPr>
          <a:xfrm>
            <a:off x="10329430" y="9368790"/>
            <a:ext cx="25318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122" name="Shape 120"/>
          <p:cNvSpPr/>
          <p:nvPr/>
        </p:nvSpPr>
        <p:spPr>
          <a:xfrm>
            <a:off x="12990909" y="9894570"/>
            <a:ext cx="2551271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23" name="Text 121"/>
          <p:cNvSpPr/>
          <p:nvPr/>
        </p:nvSpPr>
        <p:spPr>
          <a:xfrm>
            <a:off x="13124090" y="9368790"/>
            <a:ext cx="22849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124" name="Shape 122"/>
          <p:cNvSpPr/>
          <p:nvPr/>
        </p:nvSpPr>
        <p:spPr>
          <a:xfrm>
            <a:off x="15542180" y="9216390"/>
            <a:ext cx="1831419" cy="685800"/>
          </a:xfrm>
          <a:prstGeom prst="rect">
            <a:avLst/>
          </a:prstGeom>
          <a:solidFill>
            <a:srgbClr val="D04A1A">
              <a:alpha val="6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5542180" y="9894570"/>
            <a:ext cx="183141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26" name="Text 124"/>
          <p:cNvSpPr/>
          <p:nvPr/>
        </p:nvSpPr>
        <p:spPr>
          <a:xfrm>
            <a:off x="15675530" y="9368790"/>
            <a:ext cx="1564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127" name="Shape 125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128" name="Text 126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2079486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342269" y="762000"/>
            <a:ext cx="31222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CHANNELS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residents where they already are.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5933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entry points to one shared backend — chosen so no resident is excluded by device, language, or comfort with apps.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764280"/>
            <a:ext cx="3886200" cy="4278630"/>
          </a:xfrm>
          <a:prstGeom prst="roundRect">
            <a:avLst>
              <a:gd name="adj" fmla="val 980"/>
            </a:avLst>
          </a:prstGeom>
          <a:solidFill>
            <a:srgbClr val="EBE1D1"/>
          </a:solidFill>
          <a:ln/>
        </p:spPr>
      </p:sp>
      <p:sp>
        <p:nvSpPr>
          <p:cNvPr id="8" name="Shape 6"/>
          <p:cNvSpPr/>
          <p:nvPr/>
        </p:nvSpPr>
        <p:spPr>
          <a:xfrm>
            <a:off x="1257300" y="418338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16110D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18338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57300" y="5097780"/>
            <a:ext cx="329641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spc="-30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57300" y="5821680"/>
            <a:ext cx="3296412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 set for desktop users — registration, dashboards, admin tooling, reviewer workflows.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300" y="7212330"/>
            <a:ext cx="3200400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7410450"/>
            <a:ext cx="32964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68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05400" y="3764280"/>
            <a:ext cx="3886200" cy="4278630"/>
          </a:xfrm>
          <a:prstGeom prst="roundRect">
            <a:avLst>
              <a:gd name="adj" fmla="val 980"/>
            </a:avLst>
          </a:prstGeom>
          <a:solidFill>
            <a:srgbClr val="16110D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8300" y="418338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D04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410200" y="418338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48300" y="5097780"/>
            <a:ext cx="329641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spc="-30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48300" y="5821680"/>
            <a:ext cx="329641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Lowest-barrier channel for elderly residents and family next-of-kin. Register, request help, receive alerts via chat.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5448300" y="7212330"/>
            <a:ext cx="3200400" cy="9525"/>
          </a:xfrm>
          <a:prstGeom prst="rect">
            <a:avLst/>
          </a:prstGeom>
          <a:solidFill>
            <a:srgbClr val="F4EDE2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48300" y="7410450"/>
            <a:ext cx="32964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68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· VOLUNTEER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96400" y="3764280"/>
            <a:ext cx="3886200" cy="4278630"/>
          </a:xfrm>
          <a:prstGeom prst="roundRect">
            <a:avLst>
              <a:gd name="adj" fmla="val 980"/>
            </a:avLst>
          </a:prstGeom>
          <a:solidFill>
            <a:srgbClr val="EBE1D1"/>
          </a:solidFill>
          <a:ln/>
        </p:spPr>
      </p:sp>
      <p:sp>
        <p:nvSpPr>
          <p:cNvPr id="22" name="Shape 20"/>
          <p:cNvSpPr/>
          <p:nvPr/>
        </p:nvSpPr>
        <p:spPr>
          <a:xfrm>
            <a:off x="9639300" y="418338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16110D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418338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639300" y="5097780"/>
            <a:ext cx="329641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spc="-30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639300" y="5821680"/>
            <a:ext cx="329641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iOS experience with background location, push alerts, biometric login, and offline-capable SOS.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9639300" y="7212330"/>
            <a:ext cx="3200400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39300" y="7410450"/>
            <a:ext cx="32964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68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487400" y="3764280"/>
            <a:ext cx="3886200" cy="4278630"/>
          </a:xfrm>
          <a:prstGeom prst="roundRect">
            <a:avLst>
              <a:gd name="adj" fmla="val 980"/>
            </a:avLst>
          </a:prstGeom>
          <a:solidFill>
            <a:srgbClr val="EBE1D1"/>
          </a:solidFill>
          <a:ln/>
        </p:spPr>
      </p:sp>
      <p:sp>
        <p:nvSpPr>
          <p:cNvPr id="29" name="Shape 27"/>
          <p:cNvSpPr/>
          <p:nvPr/>
        </p:nvSpPr>
        <p:spPr>
          <a:xfrm>
            <a:off x="13830300" y="418338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16110D"/>
          </a:solidFill>
          <a:ln/>
        </p:spPr>
      </p:sp>
      <p:sp>
        <p:nvSpPr>
          <p:cNvPr id="30" name="Text 28"/>
          <p:cNvSpPr/>
          <p:nvPr/>
        </p:nvSpPr>
        <p:spPr>
          <a:xfrm>
            <a:off x="13792200" y="418338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3830300" y="5097780"/>
            <a:ext cx="329641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spc="-30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3830300" y="5821680"/>
            <a:ext cx="3296412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experience matched feature-for-feature with iOS. The widest-reach mobile surface.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13830300" y="7212330"/>
            <a:ext cx="3200400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830300" y="7410450"/>
            <a:ext cx="32964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168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36" name="Text 34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136630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629084" y="762000"/>
            <a:ext cx="38568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 · VOLUNTEER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volunteer journey.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487930"/>
            <a:ext cx="1695297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97" kern="0" dirty="0">
                <a:solidFill>
                  <a:srgbClr val="F4EDE2"/>
                </a:solidFill>
                <a:highlight>
                  <a:srgbClr val="16110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VOLUNTEER </a:t>
            </a:r>
            <a:pPr algn="l" indent="0" marL="0">
              <a:lnSpc>
                <a:spcPct val="140000"/>
              </a:lnSpc>
              <a:buNone/>
            </a:pPr>
            <a:r>
              <a:rPr lang="en-US" sz="1650" spc="297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ANONYMOUS VISITOR TO FIRST RESPONDER.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1440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EBE1D1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1100" y="3817620"/>
            <a:ext cx="269991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sign-up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4627245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register as a volunteer from any frontend — no invite required.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424053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EBE1D1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23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7230" y="3817620"/>
            <a:ext cx="269991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+ GPS consent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507230" y="4627245"/>
            <a:ext cx="269991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enters identity, contact, skills (CPR, AED, first-aid). GPS permission is mandatory.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56666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D04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83336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3336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Standby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833360" y="4298633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pings the backend in the background. Volunteer goes about their day.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89279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EBE1D1"/>
          </a:solidFill>
          <a:ln/>
        </p:spPr>
      </p:sp>
      <p:sp>
        <p:nvSpPr>
          <p:cNvPr id="20" name="Text 18"/>
          <p:cNvSpPr/>
          <p:nvPr/>
        </p:nvSpPr>
        <p:spPr>
          <a:xfrm>
            <a:off x="1115949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15949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within 2 km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159490" y="4298633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incident nearby triggers a push: type, location, severity. Volunteer accepts or declines.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421892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16110D"/>
          </a:solidFill>
          <a:ln/>
        </p:spPr>
      </p:sp>
      <p:sp>
        <p:nvSpPr>
          <p:cNvPr id="24" name="Text 22"/>
          <p:cNvSpPr/>
          <p:nvPr/>
        </p:nvSpPr>
        <p:spPr>
          <a:xfrm>
            <a:off x="1448562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48562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to scene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485620" y="4298633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accept: turn-by-turn directions, scene context, live status until incident is closed.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28" name="Text 26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1187946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450729" y="762000"/>
            <a:ext cx="40405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 · VULNERABLE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vulnerable journey.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487930"/>
            <a:ext cx="1695297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97" kern="0" dirty="0">
                <a:solidFill>
                  <a:srgbClr val="F4EDE2"/>
                </a:solidFill>
                <a:highlight>
                  <a:srgbClr val="16110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VULNERABLE </a:t>
            </a:r>
            <a:pPr algn="l" indent="0" marL="0">
              <a:lnSpc>
                <a:spcPct val="140000"/>
              </a:lnSpc>
              <a:buNone/>
            </a:pPr>
            <a:r>
              <a:rPr lang="en-US" sz="1650" spc="297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SIGN-UP TO ONE-TAP HELP, WITH VERIFICATION IN BETWEEN.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1440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EBE1D1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110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Self-register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4298633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or family member registers via WhatsApp, app, or web. Plain language, large type.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424053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EBE1D1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23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723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Next-of-kin details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507230" y="4298633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Mandatory: at least one next-of-kin contact, relationship, address. Optional health flags.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56666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D04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83336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3336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verifies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833360" y="4298633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or Admin confirms identity, residence, and next-of-kin. Profile is then activated.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89279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EBE1D1"/>
          </a:solidFill>
          <a:ln/>
        </p:spPr>
      </p:sp>
      <p:sp>
        <p:nvSpPr>
          <p:cNvPr id="20" name="Text 18"/>
          <p:cNvSpPr/>
          <p:nvPr/>
        </p:nvSpPr>
        <p:spPr>
          <a:xfrm>
            <a:off x="1115949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15949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request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159490" y="4298633"/>
            <a:ext cx="269991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triggers help from a single, accessible button. Auto-classed as a Minor emergency.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4218920" y="3120390"/>
            <a:ext cx="3154680" cy="4000500"/>
          </a:xfrm>
          <a:prstGeom prst="roundRect">
            <a:avLst>
              <a:gd name="adj" fmla="val 1208"/>
            </a:avLst>
          </a:prstGeom>
          <a:solidFill>
            <a:srgbClr val="16110D"/>
          </a:solidFill>
          <a:ln/>
        </p:spPr>
      </p:sp>
      <p:sp>
        <p:nvSpPr>
          <p:cNvPr id="24" name="Text 22"/>
          <p:cNvSpPr/>
          <p:nvPr/>
        </p:nvSpPr>
        <p:spPr>
          <a:xfrm>
            <a:off x="14485620" y="3425190"/>
            <a:ext cx="269991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485620" y="3817620"/>
            <a:ext cx="26999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arrives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485620" y="4298633"/>
            <a:ext cx="269991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 within 2 km are paged. NOK is notified in parallel. Status visible to resident.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28" name="Text 26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503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17157" y="917258"/>
            <a:ext cx="12274868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520624" y="762000"/>
            <a:ext cx="29385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PAGING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emergency reaches the right people.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5933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triggered by a vulnerable resident or activated by a reviewer, every alert follows the same disciplined path.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764280"/>
            <a:ext cx="2600325" cy="4000500"/>
          </a:xfrm>
          <a:prstGeom prst="roundRect">
            <a:avLst>
              <a:gd name="adj" fmla="val 1465"/>
            </a:avLst>
          </a:prstGeom>
          <a:solidFill>
            <a:srgbClr val="EBE1D1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069080"/>
            <a:ext cx="214312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TRIGGER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1100" y="4461510"/>
            <a:ext cx="21431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reported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5271135"/>
            <a:ext cx="21431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taps SOS, or Reviewer / Admin activates Major.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3686175" y="3764280"/>
            <a:ext cx="2600325" cy="4000500"/>
          </a:xfrm>
          <a:prstGeom prst="roundRect">
            <a:avLst>
              <a:gd name="adj" fmla="val 1465"/>
            </a:avLst>
          </a:prstGeom>
          <a:solidFill>
            <a:srgbClr val="EBE1D1"/>
          </a:solidFill>
          <a:ln/>
        </p:spPr>
      </p:sp>
      <p:sp>
        <p:nvSpPr>
          <p:cNvPr id="12" name="Text 10"/>
          <p:cNvSpPr/>
          <p:nvPr/>
        </p:nvSpPr>
        <p:spPr>
          <a:xfrm>
            <a:off x="3952875" y="4069080"/>
            <a:ext cx="214312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CLASSIFY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52875" y="4461510"/>
            <a:ext cx="21431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or Minor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952875" y="4942523"/>
            <a:ext cx="21431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or activator sets severity and resource expectation.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457950" y="3764280"/>
            <a:ext cx="2600325" cy="4000500"/>
          </a:xfrm>
          <a:prstGeom prst="roundRect">
            <a:avLst>
              <a:gd name="adj" fmla="val 1465"/>
            </a:avLst>
          </a:prstGeom>
          <a:solidFill>
            <a:srgbClr val="D04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724650" y="4069080"/>
            <a:ext cx="214312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GEOFENCE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4650" y="4461510"/>
            <a:ext cx="21431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 ≤ 2 km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724650" y="5271135"/>
            <a:ext cx="21431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selects all on-duty volunteers within radius.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229725" y="3764280"/>
            <a:ext cx="2600325" cy="4000500"/>
          </a:xfrm>
          <a:prstGeom prst="roundRect">
            <a:avLst>
              <a:gd name="adj" fmla="val 1465"/>
            </a:avLst>
          </a:prstGeom>
          <a:solidFill>
            <a:srgbClr val="EBE1D1"/>
          </a:solidFill>
          <a:ln/>
        </p:spPr>
      </p:sp>
      <p:sp>
        <p:nvSpPr>
          <p:cNvPr id="20" name="Text 18"/>
          <p:cNvSpPr/>
          <p:nvPr/>
        </p:nvSpPr>
        <p:spPr>
          <a:xfrm>
            <a:off x="9496425" y="4069080"/>
            <a:ext cx="214312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PAGE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496425" y="4461510"/>
            <a:ext cx="21431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dispatched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496425" y="5271135"/>
            <a:ext cx="21431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WhatsApp, SMS — multi-channel for redundancy.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2001500" y="3764280"/>
            <a:ext cx="2600325" cy="4000500"/>
          </a:xfrm>
          <a:prstGeom prst="roundRect">
            <a:avLst>
              <a:gd name="adj" fmla="val 1465"/>
            </a:avLst>
          </a:prstGeom>
          <a:solidFill>
            <a:srgbClr val="EBE1D1"/>
          </a:solidFill>
          <a:ln/>
        </p:spPr>
      </p:sp>
      <p:sp>
        <p:nvSpPr>
          <p:cNvPr id="24" name="Text 22"/>
          <p:cNvSpPr/>
          <p:nvPr/>
        </p:nvSpPr>
        <p:spPr>
          <a:xfrm>
            <a:off x="12268200" y="4069080"/>
            <a:ext cx="214312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RESPOND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268200" y="4461510"/>
            <a:ext cx="21431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decline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268200" y="5271135"/>
            <a:ext cx="21431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 acknowledge. ETA shared to coordination.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4773275" y="3764280"/>
            <a:ext cx="2600325" cy="4000500"/>
          </a:xfrm>
          <a:prstGeom prst="roundRect">
            <a:avLst>
              <a:gd name="adj" fmla="val 1465"/>
            </a:avLst>
          </a:prstGeom>
          <a:solidFill>
            <a:srgbClr val="16110D"/>
          </a:solidFill>
          <a:ln/>
        </p:spPr>
      </p:sp>
      <p:sp>
        <p:nvSpPr>
          <p:cNvPr id="28" name="Text 26"/>
          <p:cNvSpPr/>
          <p:nvPr/>
        </p:nvSpPr>
        <p:spPr>
          <a:xfrm>
            <a:off x="15039975" y="4069080"/>
            <a:ext cx="214312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7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CLOSE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039975" y="4461510"/>
            <a:ext cx="214312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22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deactivates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5039975" y="5271135"/>
            <a:ext cx="21431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Admin can stand the emergency down.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32" name="Text 30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2436198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698981" y="762000"/>
            <a:ext cx="27548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TYPES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vs Minor.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5933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dispatch mechanism. Different framing for the volunteer who picks up the phone.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764280"/>
            <a:ext cx="8058150" cy="6741319"/>
          </a:xfrm>
          <a:prstGeom prst="roundRect">
            <a:avLst>
              <a:gd name="adj" fmla="val 565"/>
            </a:avLst>
          </a:prstGeom>
          <a:solidFill>
            <a:srgbClr val="A73611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145280"/>
            <a:ext cx="751503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01 · MAJOR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95400" y="4591050"/>
            <a:ext cx="7515035" cy="710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00" spc="-135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emergency.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295400" y="5644039"/>
            <a:ext cx="751503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Life-threatening to two or more people. Heavy resources required. Fire is the canonical example.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95400" y="666511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2513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BY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5400" y="711469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or Reviewer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— never auto-triggered.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95400" y="756808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72810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MESSAGE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5400" y="801766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"Major emergency on-going.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resources needed.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95400" y="847105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863107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PAGING RADIUS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5400" y="892063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volunteers within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Accept or decline.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95400" y="937402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953404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BY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5400" y="982360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only.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315450" y="3764280"/>
            <a:ext cx="8058150" cy="6741319"/>
          </a:xfrm>
          <a:prstGeom prst="roundRect">
            <a:avLst>
              <a:gd name="adj" fmla="val 565"/>
            </a:avLst>
          </a:prstGeom>
          <a:solidFill>
            <a:srgbClr val="16110D"/>
          </a:solidFill>
          <a:ln/>
        </p:spPr>
      </p:sp>
      <p:sp>
        <p:nvSpPr>
          <p:cNvPr id="24" name="Text 22"/>
          <p:cNvSpPr/>
          <p:nvPr/>
        </p:nvSpPr>
        <p:spPr>
          <a:xfrm>
            <a:off x="9696450" y="4145280"/>
            <a:ext cx="751503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33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02 · MINOR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696450" y="4591050"/>
            <a:ext cx="7515035" cy="710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00" spc="-135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emergency.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9696450" y="5644039"/>
            <a:ext cx="751503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person, conscious, non-fatal. A vulnerable resident's request for help is automatically a Minor.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96450" y="666511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696450" y="682513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BY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6450" y="711469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(auto), or Reviewer / Admin.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696450" y="756808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96450" y="772810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MESSAGE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6450" y="801766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"Minor emergency on-going.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requested.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696450" y="847105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696450" y="863107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PAGING RADIUS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6450" y="892063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volunteers within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Accept or decline.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696450" y="9374029"/>
            <a:ext cx="729615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696450" y="9534049"/>
            <a:ext cx="751503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BY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96450" y="9823609"/>
            <a:ext cx="751503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only.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40" name="Text 38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172289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985677" y="762000"/>
            <a:ext cx="34895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· VOLUNTEER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app — at a glance.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669971" y="2487930"/>
            <a:ext cx="3619500" cy="7239000"/>
          </a:xfrm>
          <a:prstGeom prst="roundRect">
            <a:avLst>
              <a:gd name="adj" fmla="val 11579"/>
            </a:avLst>
          </a:prstGeom>
          <a:solidFill>
            <a:srgbClr val="16110D"/>
          </a:solidFill>
          <a:ln/>
          <a:effectLst>
            <a:outerShdw sx="100000" sy="100000" kx="0" ky="0" algn="bl" rotWithShape="0" blurRad="457200" dist="228600" dir="5400000">
              <a:srgbClr val="16110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55846" y="265938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6110D"/>
          </a:solidFill>
          <a:ln/>
        </p:spPr>
      </p:sp>
      <p:sp>
        <p:nvSpPr>
          <p:cNvPr id="8" name="Shape 6"/>
          <p:cNvSpPr/>
          <p:nvPr/>
        </p:nvSpPr>
        <p:spPr>
          <a:xfrm>
            <a:off x="1803321" y="2621280"/>
            <a:ext cx="3352800" cy="6972300"/>
          </a:xfrm>
          <a:prstGeom prst="roundRect">
            <a:avLst>
              <a:gd name="adj" fmla="val 9091"/>
            </a:avLst>
          </a:prstGeom>
          <a:solidFill>
            <a:srgbClr val="F4EDE2"/>
          </a:solidFill>
          <a:ln/>
        </p:spPr>
      </p:sp>
      <p:sp>
        <p:nvSpPr>
          <p:cNvPr id="9" name="Text 7"/>
          <p:cNvSpPr/>
          <p:nvPr/>
        </p:nvSpPr>
        <p:spPr>
          <a:xfrm>
            <a:off x="2031921" y="2773680"/>
            <a:ext cx="37338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574619" y="2773680"/>
            <a:ext cx="42910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031921" y="3289935"/>
            <a:ext cx="29824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65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STANDBY · 12 NEARBY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031921" y="3627120"/>
            <a:ext cx="2982468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evening, Wei Ming.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031921" y="4362450"/>
            <a:ext cx="298246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on duty. GPS sharing active.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2031921" y="4688205"/>
            <a:ext cx="2895600" cy="941070"/>
          </a:xfrm>
          <a:prstGeom prst="roundRect">
            <a:avLst>
              <a:gd name="adj" fmla="val 12146"/>
            </a:avLst>
          </a:prstGeom>
          <a:solidFill>
            <a:srgbClr val="EBE1D1"/>
          </a:solidFill>
          <a:ln/>
        </p:spPr>
      </p:sp>
      <p:sp>
        <p:nvSpPr>
          <p:cNvPr id="15" name="Text 13"/>
          <p:cNvSpPr/>
          <p:nvPr/>
        </p:nvSpPr>
        <p:spPr>
          <a:xfrm>
            <a:off x="2184321" y="4821555"/>
            <a:ext cx="14117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LOCATION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184321" y="5025390"/>
            <a:ext cx="2668524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207, Jln Besar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84321" y="5322570"/>
            <a:ext cx="266852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Auto-updating · ±8m accuracy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2031921" y="5781675"/>
            <a:ext cx="2895600" cy="643890"/>
          </a:xfrm>
          <a:prstGeom prst="roundRect">
            <a:avLst>
              <a:gd name="adj" fmla="val 17751"/>
            </a:avLst>
          </a:prstGeom>
          <a:solidFill>
            <a:srgbClr val="EBE1D1"/>
          </a:solidFill>
          <a:ln/>
        </p:spPr>
      </p:sp>
      <p:sp>
        <p:nvSpPr>
          <p:cNvPr id="19" name="Text 17"/>
          <p:cNvSpPr/>
          <p:nvPr/>
        </p:nvSpPr>
        <p:spPr>
          <a:xfrm>
            <a:off x="2184321" y="5915025"/>
            <a:ext cx="5320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184321" y="6118860"/>
            <a:ext cx="266852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 · AED · Basic first-aid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2031921" y="6577965"/>
            <a:ext cx="2895600" cy="481965"/>
          </a:xfrm>
          <a:prstGeom prst="roundRect">
            <a:avLst>
              <a:gd name="adj" fmla="val 23715"/>
            </a:avLst>
          </a:prstGeom>
          <a:ln w="7620">
            <a:solidFill>
              <a:srgbClr val="1611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29457" y="6718935"/>
            <a:ext cx="27005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off-duty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2031921" y="9109710"/>
            <a:ext cx="2895600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68485" y="9231630"/>
            <a:ext cx="4152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05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80943" y="9231630"/>
            <a:ext cx="5250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05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503176" y="9231630"/>
            <a:ext cx="5894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05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289703" y="9231630"/>
            <a:ext cx="5772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05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15678" y="9955531"/>
            <a:ext cx="372808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 </a:t>
            </a:r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STANDBY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334131" y="2487930"/>
            <a:ext cx="3619500" cy="7239000"/>
          </a:xfrm>
          <a:prstGeom prst="roundRect">
            <a:avLst>
              <a:gd name="adj" fmla="val 11579"/>
            </a:avLst>
          </a:prstGeom>
          <a:solidFill>
            <a:srgbClr val="16110D"/>
          </a:solidFill>
          <a:ln/>
          <a:effectLst>
            <a:outerShdw sx="100000" sy="100000" kx="0" ky="0" algn="bl" rotWithShape="0" blurRad="457200" dist="228600" dir="5400000">
              <a:srgbClr val="16110D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20006" y="265938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6110D"/>
          </a:solidFill>
          <a:ln/>
        </p:spPr>
      </p:sp>
      <p:sp>
        <p:nvSpPr>
          <p:cNvPr id="31" name="Shape 29"/>
          <p:cNvSpPr/>
          <p:nvPr/>
        </p:nvSpPr>
        <p:spPr>
          <a:xfrm>
            <a:off x="7467481" y="2621280"/>
            <a:ext cx="3352800" cy="6972300"/>
          </a:xfrm>
          <a:prstGeom prst="roundRect">
            <a:avLst>
              <a:gd name="adj" fmla="val 9091"/>
            </a:avLst>
          </a:prstGeom>
          <a:solidFill>
            <a:srgbClr val="F4EDE2"/>
          </a:solidFill>
          <a:ln/>
        </p:spPr>
      </p:sp>
      <p:sp>
        <p:nvSpPr>
          <p:cNvPr id="32" name="Text 30"/>
          <p:cNvSpPr/>
          <p:nvPr/>
        </p:nvSpPr>
        <p:spPr>
          <a:xfrm>
            <a:off x="7696081" y="2773680"/>
            <a:ext cx="37338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9:43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0238780" y="2773680"/>
            <a:ext cx="42910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7696081" y="3289935"/>
            <a:ext cx="2895600" cy="1223010"/>
          </a:xfrm>
          <a:prstGeom prst="roundRect">
            <a:avLst>
              <a:gd name="adj" fmla="val 9346"/>
            </a:avLst>
          </a:prstGeom>
          <a:solidFill>
            <a:srgbClr val="A73611"/>
          </a:solidFill>
          <a:ln/>
        </p:spPr>
      </p:sp>
      <p:sp>
        <p:nvSpPr>
          <p:cNvPr id="35" name="Text 33"/>
          <p:cNvSpPr/>
          <p:nvPr/>
        </p:nvSpPr>
        <p:spPr>
          <a:xfrm>
            <a:off x="7848481" y="3423285"/>
            <a:ext cx="26685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65" kern="0" dirty="0">
                <a:solidFill>
                  <a:srgbClr val="F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· 380M AWAY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848481" y="3665220"/>
            <a:ext cx="2668524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reported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7848481" y="4032885"/>
            <a:ext cx="266852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resources needed. Blk 211, Jln Besar #04-12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7696081" y="4665345"/>
            <a:ext cx="2895600" cy="560070"/>
          </a:xfrm>
          <a:prstGeom prst="roundRect">
            <a:avLst>
              <a:gd name="adj" fmla="val 20408"/>
            </a:avLst>
          </a:prstGeom>
          <a:solidFill>
            <a:srgbClr val="EBE1D1"/>
          </a:solidFill>
          <a:ln/>
        </p:spPr>
      </p:sp>
      <p:sp>
        <p:nvSpPr>
          <p:cNvPr id="39" name="Text 37"/>
          <p:cNvSpPr/>
          <p:nvPr/>
        </p:nvSpPr>
        <p:spPr>
          <a:xfrm>
            <a:off x="7848481" y="4872038"/>
            <a:ext cx="9572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ON FOOT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926836" y="4798695"/>
            <a:ext cx="58864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696081" y="5377815"/>
            <a:ext cx="2895600" cy="1066800"/>
          </a:xfrm>
          <a:prstGeom prst="roundRect">
            <a:avLst>
              <a:gd name="adj" fmla="val 10714"/>
            </a:avLst>
          </a:prstGeom>
          <a:solidFill>
            <a:srgbClr val="EBE1D1"/>
          </a:solidFill>
          <a:ln/>
        </p:spPr>
      </p:sp>
      <p:sp>
        <p:nvSpPr>
          <p:cNvPr id="42" name="Text 40"/>
          <p:cNvSpPr/>
          <p:nvPr/>
        </p:nvSpPr>
        <p:spPr>
          <a:xfrm>
            <a:off x="7848481" y="5837873"/>
            <a:ext cx="97750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RESPONDERS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8749784" y="5511165"/>
            <a:ext cx="176569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paged · 3 accepted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7696081" y="8321040"/>
            <a:ext cx="2895600" cy="466725"/>
          </a:xfrm>
          <a:prstGeom prst="roundRect">
            <a:avLst>
              <a:gd name="adj" fmla="val 24490"/>
            </a:avLst>
          </a:prstGeom>
          <a:solidFill>
            <a:srgbClr val="D04A1A"/>
          </a:solidFill>
          <a:ln/>
        </p:spPr>
      </p:sp>
      <p:sp>
        <p:nvSpPr>
          <p:cNvPr id="45" name="Text 43"/>
          <p:cNvSpPr/>
          <p:nvPr/>
        </p:nvSpPr>
        <p:spPr>
          <a:xfrm>
            <a:off x="7785997" y="8454390"/>
            <a:ext cx="27157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· Respond now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7696081" y="8883015"/>
            <a:ext cx="2895600" cy="481965"/>
          </a:xfrm>
          <a:prstGeom prst="roundRect">
            <a:avLst>
              <a:gd name="adj" fmla="val 23715"/>
            </a:avLst>
          </a:prstGeom>
          <a:ln w="7620">
            <a:solidFill>
              <a:srgbClr val="16110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3617" y="9023985"/>
            <a:ext cx="27005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this alert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7279838" y="9955531"/>
            <a:ext cx="372808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 </a:t>
            </a:r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ALERT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2998291" y="2487930"/>
            <a:ext cx="3619500" cy="7239000"/>
          </a:xfrm>
          <a:prstGeom prst="roundRect">
            <a:avLst>
              <a:gd name="adj" fmla="val 11579"/>
            </a:avLst>
          </a:prstGeom>
          <a:solidFill>
            <a:srgbClr val="16110D"/>
          </a:solidFill>
          <a:ln/>
          <a:effectLst>
            <a:outerShdw sx="100000" sy="100000" kx="0" ky="0" algn="bl" rotWithShape="0" blurRad="457200" dist="228600" dir="5400000">
              <a:srgbClr val="16110D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4284166" y="265938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6110D"/>
          </a:solidFill>
          <a:ln/>
        </p:spPr>
      </p:sp>
      <p:sp>
        <p:nvSpPr>
          <p:cNvPr id="51" name="Shape 49"/>
          <p:cNvSpPr/>
          <p:nvPr/>
        </p:nvSpPr>
        <p:spPr>
          <a:xfrm>
            <a:off x="13131641" y="2621280"/>
            <a:ext cx="3352800" cy="6972300"/>
          </a:xfrm>
          <a:prstGeom prst="roundRect">
            <a:avLst>
              <a:gd name="adj" fmla="val 9091"/>
            </a:avLst>
          </a:prstGeom>
          <a:solidFill>
            <a:srgbClr val="F4EDE2"/>
          </a:solidFill>
          <a:ln/>
        </p:spPr>
      </p:sp>
      <p:sp>
        <p:nvSpPr>
          <p:cNvPr id="52" name="Text 50"/>
          <p:cNvSpPr/>
          <p:nvPr/>
        </p:nvSpPr>
        <p:spPr>
          <a:xfrm>
            <a:off x="13360241" y="2773680"/>
            <a:ext cx="37338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9:45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5902940" y="2773680"/>
            <a:ext cx="42910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3360241" y="3289935"/>
            <a:ext cx="29824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65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 · MAJOR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3360241" y="3627120"/>
            <a:ext cx="298246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to scene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3360241" y="4090035"/>
            <a:ext cx="2895600" cy="941070"/>
          </a:xfrm>
          <a:prstGeom prst="roundRect">
            <a:avLst>
              <a:gd name="adj" fmla="val 12146"/>
            </a:avLst>
          </a:prstGeom>
          <a:solidFill>
            <a:srgbClr val="16110D"/>
          </a:solidFill>
          <a:ln/>
        </p:spPr>
      </p:sp>
      <p:sp>
        <p:nvSpPr>
          <p:cNvPr id="57" name="Text 55"/>
          <p:cNvSpPr/>
          <p:nvPr/>
        </p:nvSpPr>
        <p:spPr>
          <a:xfrm>
            <a:off x="13512641" y="4223385"/>
            <a:ext cx="9572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F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3512641" y="4427220"/>
            <a:ext cx="2668524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211 #04-12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13512641" y="4724400"/>
            <a:ext cx="266852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4EDE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vulnerable residents on file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13360241" y="5183505"/>
            <a:ext cx="2895600" cy="817245"/>
          </a:xfrm>
          <a:prstGeom prst="roundRect">
            <a:avLst>
              <a:gd name="adj" fmla="val 13986"/>
            </a:avLst>
          </a:prstGeom>
          <a:solidFill>
            <a:srgbClr val="EBE1D1"/>
          </a:solidFill>
          <a:ln/>
        </p:spPr>
      </p:sp>
      <p:sp>
        <p:nvSpPr>
          <p:cNvPr id="61" name="Text 59"/>
          <p:cNvSpPr/>
          <p:nvPr/>
        </p:nvSpPr>
        <p:spPr>
          <a:xfrm>
            <a:off x="13512641" y="5316855"/>
            <a:ext cx="10116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NOTES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13512641" y="5520690"/>
            <a:ext cx="266852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SCDF en route. Lift active. Stairwell B clearest. Activator on scene.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13360241" y="6153150"/>
            <a:ext cx="2895600" cy="666750"/>
          </a:xfrm>
          <a:prstGeom prst="roundRect">
            <a:avLst>
              <a:gd name="adj" fmla="val 17143"/>
            </a:avLst>
          </a:prstGeom>
          <a:solidFill>
            <a:srgbClr val="EBE1D1"/>
          </a:solidFill>
          <a:ln/>
        </p:spPr>
      </p:sp>
      <p:sp>
        <p:nvSpPr>
          <p:cNvPr id="64" name="Text 62"/>
          <p:cNvSpPr/>
          <p:nvPr/>
        </p:nvSpPr>
        <p:spPr>
          <a:xfrm>
            <a:off x="13512641" y="6413182"/>
            <a:ext cx="43434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14705291" y="6286500"/>
            <a:ext cx="14743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on scene</a:t>
            </a:r>
            <a:endParaRPr lang="en-US" sz="2250" dirty="0"/>
          </a:p>
        </p:txBody>
      </p:sp>
      <p:sp>
        <p:nvSpPr>
          <p:cNvPr id="66" name="Shape 64"/>
          <p:cNvSpPr/>
          <p:nvPr/>
        </p:nvSpPr>
        <p:spPr>
          <a:xfrm>
            <a:off x="13360241" y="8321040"/>
            <a:ext cx="2895600" cy="466725"/>
          </a:xfrm>
          <a:prstGeom prst="roundRect">
            <a:avLst>
              <a:gd name="adj" fmla="val 24490"/>
            </a:avLst>
          </a:prstGeom>
          <a:solidFill>
            <a:srgbClr val="16110D"/>
          </a:solidFill>
          <a:ln/>
        </p:spPr>
      </p:sp>
      <p:sp>
        <p:nvSpPr>
          <p:cNvPr id="67" name="Text 65"/>
          <p:cNvSpPr/>
          <p:nvPr/>
        </p:nvSpPr>
        <p:spPr>
          <a:xfrm>
            <a:off x="13450157" y="8454390"/>
            <a:ext cx="27157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arrived</a:t>
            </a:r>
            <a:endParaRPr lang="en-US" sz="1125" dirty="0"/>
          </a:p>
        </p:txBody>
      </p:sp>
      <p:sp>
        <p:nvSpPr>
          <p:cNvPr id="68" name="Shape 66"/>
          <p:cNvSpPr/>
          <p:nvPr/>
        </p:nvSpPr>
        <p:spPr>
          <a:xfrm>
            <a:off x="13360241" y="8883015"/>
            <a:ext cx="2895600" cy="481965"/>
          </a:xfrm>
          <a:prstGeom prst="roundRect">
            <a:avLst>
              <a:gd name="adj" fmla="val 23715"/>
            </a:avLst>
          </a:prstGeom>
          <a:ln w="7620">
            <a:solidFill>
              <a:srgbClr val="16110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57777" y="9023985"/>
            <a:ext cx="27005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directions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12943999" y="9955531"/>
            <a:ext cx="372808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 </a:t>
            </a:r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72" name="Text 70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1544657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807440" y="762000"/>
            <a:ext cx="367314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· VULNERABLE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app — accessible by design.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669971" y="2487930"/>
            <a:ext cx="3619500" cy="7239000"/>
          </a:xfrm>
          <a:prstGeom prst="roundRect">
            <a:avLst>
              <a:gd name="adj" fmla="val 11579"/>
            </a:avLst>
          </a:prstGeom>
          <a:solidFill>
            <a:srgbClr val="16110D"/>
          </a:solidFill>
          <a:ln/>
          <a:effectLst>
            <a:outerShdw sx="100000" sy="100000" kx="0" ky="0" algn="bl" rotWithShape="0" blurRad="457200" dist="228600" dir="5400000">
              <a:srgbClr val="16110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55846" y="265938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6110D"/>
          </a:solidFill>
          <a:ln/>
        </p:spPr>
      </p:sp>
      <p:sp>
        <p:nvSpPr>
          <p:cNvPr id="8" name="Shape 6"/>
          <p:cNvSpPr/>
          <p:nvPr/>
        </p:nvSpPr>
        <p:spPr>
          <a:xfrm>
            <a:off x="1803321" y="2621280"/>
            <a:ext cx="3352800" cy="6972300"/>
          </a:xfrm>
          <a:prstGeom prst="roundRect">
            <a:avLst>
              <a:gd name="adj" fmla="val 9091"/>
            </a:avLst>
          </a:prstGeom>
          <a:solidFill>
            <a:srgbClr val="F4EDE2"/>
          </a:solidFill>
          <a:ln/>
        </p:spPr>
      </p:sp>
      <p:sp>
        <p:nvSpPr>
          <p:cNvPr id="9" name="Text 7"/>
          <p:cNvSpPr/>
          <p:nvPr/>
        </p:nvSpPr>
        <p:spPr>
          <a:xfrm>
            <a:off x="2031921" y="2773680"/>
            <a:ext cx="37338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574619" y="2773680"/>
            <a:ext cx="42910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031921" y="3289935"/>
            <a:ext cx="29824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65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· ACTIVE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031921" y="3627120"/>
            <a:ext cx="298246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Hi, Madam Tan.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031921" y="4090035"/>
            <a:ext cx="298246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the button if you need help. Help comes to you.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2336721" y="4627245"/>
            <a:ext cx="2286000" cy="2286000"/>
          </a:xfrm>
          <a:prstGeom prst="ellipse">
            <a:avLst/>
          </a:prstGeom>
          <a:ln w="15240">
            <a:solidFill>
              <a:srgbClr val="D04A1A">
                <a:alpha val="40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527221" y="4817745"/>
            <a:ext cx="1905000" cy="1905000"/>
          </a:xfrm>
          <a:prstGeom prst="ellipse">
            <a:avLst/>
          </a:prstGeom>
          <a:solidFill>
            <a:srgbClr val="EC6A2F"/>
          </a:solidFill>
          <a:ln/>
          <a:effectLst>
            <a:outerShdw sx="100000" sy="100000" kx="0" ky="0" algn="bl" rotWithShape="0" blurRad="304800" dist="114300" dir="5400000">
              <a:srgbClr val="A73611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89121" y="4817745"/>
            <a:ext cx="1981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200" b="1" spc="168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2031921" y="7103745"/>
            <a:ext cx="2895600" cy="440055"/>
          </a:xfrm>
          <a:prstGeom prst="roundRect">
            <a:avLst>
              <a:gd name="adj" fmla="val 25974"/>
            </a:avLst>
          </a:prstGeom>
          <a:solidFill>
            <a:srgbClr val="EBE1D1"/>
          </a:solidFill>
          <a:ln/>
        </p:spPr>
      </p:sp>
      <p:sp>
        <p:nvSpPr>
          <p:cNvPr id="18" name="Text 16"/>
          <p:cNvSpPr/>
          <p:nvPr/>
        </p:nvSpPr>
        <p:spPr>
          <a:xfrm>
            <a:off x="2184321" y="7250430"/>
            <a:ext cx="92428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NEXT-OF-KIN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42097" y="7237095"/>
            <a:ext cx="140922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Wei Ling · Daughter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2031921" y="9109710"/>
            <a:ext cx="2895600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324100" y="9231630"/>
            <a:ext cx="4152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05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47668" y="9231630"/>
            <a:ext cx="5772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05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33042" y="9231630"/>
            <a:ext cx="3783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05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15678" y="9955531"/>
            <a:ext cx="372808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 </a:t>
            </a:r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ONE-TAP SOS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34131" y="2487930"/>
            <a:ext cx="3619500" cy="7239000"/>
          </a:xfrm>
          <a:prstGeom prst="roundRect">
            <a:avLst>
              <a:gd name="adj" fmla="val 11579"/>
            </a:avLst>
          </a:prstGeom>
          <a:solidFill>
            <a:srgbClr val="16110D"/>
          </a:solidFill>
          <a:ln/>
          <a:effectLst>
            <a:outerShdw sx="100000" sy="100000" kx="0" ky="0" algn="bl" rotWithShape="0" blurRad="457200" dist="228600" dir="5400000">
              <a:srgbClr val="16110D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20006" y="265938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6110D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7481" y="2621280"/>
            <a:ext cx="3352800" cy="6972300"/>
          </a:xfrm>
          <a:prstGeom prst="roundRect">
            <a:avLst>
              <a:gd name="adj" fmla="val 9091"/>
            </a:avLst>
          </a:prstGeom>
          <a:solidFill>
            <a:srgbClr val="F4EDE2"/>
          </a:solidFill>
          <a:ln/>
        </p:spPr>
      </p:sp>
      <p:sp>
        <p:nvSpPr>
          <p:cNvPr id="28" name="Text 26"/>
          <p:cNvSpPr/>
          <p:nvPr/>
        </p:nvSpPr>
        <p:spPr>
          <a:xfrm>
            <a:off x="7696081" y="2773680"/>
            <a:ext cx="37338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9:42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0238780" y="2773680"/>
            <a:ext cx="42910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7696081" y="3289935"/>
            <a:ext cx="29824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65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696081" y="3627120"/>
            <a:ext cx="298246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for help?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696081" y="4090035"/>
            <a:ext cx="29824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alert your trained neighbours within 2 km and your next-of-kin.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7696081" y="4642485"/>
            <a:ext cx="2895600" cy="710565"/>
          </a:xfrm>
          <a:prstGeom prst="roundRect">
            <a:avLst>
              <a:gd name="adj" fmla="val 16086"/>
            </a:avLst>
          </a:prstGeom>
          <a:solidFill>
            <a:srgbClr val="EBE1D1"/>
          </a:solidFill>
          <a:ln/>
        </p:spPr>
      </p:sp>
      <p:sp>
        <p:nvSpPr>
          <p:cNvPr id="34" name="Text 32"/>
          <p:cNvSpPr/>
          <p:nvPr/>
        </p:nvSpPr>
        <p:spPr>
          <a:xfrm>
            <a:off x="7848481" y="4775835"/>
            <a:ext cx="26685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LOCATION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7848481" y="4979670"/>
            <a:ext cx="2668524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207 #06-22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696081" y="5505450"/>
            <a:ext cx="2895600" cy="643890"/>
          </a:xfrm>
          <a:prstGeom prst="roundRect">
            <a:avLst>
              <a:gd name="adj" fmla="val 17751"/>
            </a:avLst>
          </a:prstGeom>
          <a:solidFill>
            <a:srgbClr val="EBE1D1"/>
          </a:solidFill>
          <a:ln/>
        </p:spPr>
      </p:sp>
      <p:sp>
        <p:nvSpPr>
          <p:cNvPr id="37" name="Text 35"/>
          <p:cNvSpPr/>
          <p:nvPr/>
        </p:nvSpPr>
        <p:spPr>
          <a:xfrm>
            <a:off x="7848481" y="5638800"/>
            <a:ext cx="26685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7848481" y="5842635"/>
            <a:ext cx="266852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fallen — I am conscious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7696081" y="8204835"/>
            <a:ext cx="2895600" cy="582930"/>
          </a:xfrm>
          <a:prstGeom prst="roundRect">
            <a:avLst>
              <a:gd name="adj" fmla="val 19608"/>
            </a:avLst>
          </a:prstGeom>
          <a:solidFill>
            <a:srgbClr val="D04A1A"/>
          </a:solidFill>
          <a:ln/>
        </p:spPr>
      </p:sp>
      <p:sp>
        <p:nvSpPr>
          <p:cNvPr id="40" name="Text 38"/>
          <p:cNvSpPr/>
          <p:nvPr/>
        </p:nvSpPr>
        <p:spPr>
          <a:xfrm>
            <a:off x="7824097" y="8376285"/>
            <a:ext cx="263956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send help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696081" y="8883015"/>
            <a:ext cx="2895600" cy="481965"/>
          </a:xfrm>
          <a:prstGeom prst="roundRect">
            <a:avLst>
              <a:gd name="adj" fmla="val 23715"/>
            </a:avLst>
          </a:prstGeom>
          <a:ln w="7620">
            <a:solidFill>
              <a:srgbClr val="16110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93617" y="9023985"/>
            <a:ext cx="27005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7279838" y="9955531"/>
            <a:ext cx="372808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 </a:t>
            </a:r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REQUEST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2998291" y="2487930"/>
            <a:ext cx="3619500" cy="7239000"/>
          </a:xfrm>
          <a:prstGeom prst="roundRect">
            <a:avLst>
              <a:gd name="adj" fmla="val 11579"/>
            </a:avLst>
          </a:prstGeom>
          <a:solidFill>
            <a:srgbClr val="16110D"/>
          </a:solidFill>
          <a:ln/>
          <a:effectLst>
            <a:outerShdw sx="100000" sy="100000" kx="0" ky="0" algn="bl" rotWithShape="0" blurRad="457200" dist="228600" dir="5400000">
              <a:srgbClr val="16110D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4284166" y="265938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6110D"/>
          </a:solidFill>
          <a:ln/>
        </p:spPr>
      </p:sp>
      <p:sp>
        <p:nvSpPr>
          <p:cNvPr id="46" name="Shape 44"/>
          <p:cNvSpPr/>
          <p:nvPr/>
        </p:nvSpPr>
        <p:spPr>
          <a:xfrm>
            <a:off x="13131641" y="2621280"/>
            <a:ext cx="3352800" cy="6972300"/>
          </a:xfrm>
          <a:prstGeom prst="roundRect">
            <a:avLst>
              <a:gd name="adj" fmla="val 9091"/>
            </a:avLst>
          </a:prstGeom>
          <a:solidFill>
            <a:srgbClr val="F4EDE2"/>
          </a:solidFill>
          <a:ln/>
        </p:spPr>
      </p:sp>
      <p:sp>
        <p:nvSpPr>
          <p:cNvPr id="47" name="Text 45"/>
          <p:cNvSpPr/>
          <p:nvPr/>
        </p:nvSpPr>
        <p:spPr>
          <a:xfrm>
            <a:off x="13360241" y="2773680"/>
            <a:ext cx="37338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9:44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5902940" y="2773680"/>
            <a:ext cx="42910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3360241" y="3289935"/>
            <a:ext cx="29824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65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IS COMING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3360241" y="3627120"/>
            <a:ext cx="2982468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calm. Stay where you are.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3360241" y="4362450"/>
            <a:ext cx="2895600" cy="1165860"/>
          </a:xfrm>
          <a:prstGeom prst="roundRect">
            <a:avLst>
              <a:gd name="adj" fmla="val 9804"/>
            </a:avLst>
          </a:prstGeom>
          <a:solidFill>
            <a:srgbClr val="16110D"/>
          </a:solidFill>
          <a:ln/>
        </p:spPr>
      </p:sp>
      <p:sp>
        <p:nvSpPr>
          <p:cNvPr id="52" name="Text 50"/>
          <p:cNvSpPr/>
          <p:nvPr/>
        </p:nvSpPr>
        <p:spPr>
          <a:xfrm>
            <a:off x="13512641" y="4495800"/>
            <a:ext cx="26685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F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RESPONDERS EN ROUTE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3512641" y="4737735"/>
            <a:ext cx="2668524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neighbours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3512641" y="5221605"/>
            <a:ext cx="266852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Closest: 280m · ETA 3 min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13360241" y="5680710"/>
            <a:ext cx="2895600" cy="440055"/>
          </a:xfrm>
          <a:prstGeom prst="roundRect">
            <a:avLst>
              <a:gd name="adj" fmla="val 25974"/>
            </a:avLst>
          </a:prstGeom>
          <a:solidFill>
            <a:srgbClr val="EBE1D1"/>
          </a:solidFill>
          <a:ln/>
        </p:spPr>
      </p:sp>
      <p:sp>
        <p:nvSpPr>
          <p:cNvPr id="56" name="Text 54"/>
          <p:cNvSpPr/>
          <p:nvPr/>
        </p:nvSpPr>
        <p:spPr>
          <a:xfrm>
            <a:off x="13512641" y="5827395"/>
            <a:ext cx="102250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 NOTIFIED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5262622" y="5814060"/>
            <a:ext cx="917019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Wei Ling ✓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13360241" y="6273165"/>
            <a:ext cx="2895600" cy="440055"/>
          </a:xfrm>
          <a:prstGeom prst="roundRect">
            <a:avLst>
              <a:gd name="adj" fmla="val 25974"/>
            </a:avLst>
          </a:prstGeom>
          <a:solidFill>
            <a:srgbClr val="EBE1D1"/>
          </a:solidFill>
          <a:ln/>
        </p:spPr>
      </p:sp>
      <p:sp>
        <p:nvSpPr>
          <p:cNvPr id="59" name="Text 57"/>
          <p:cNvSpPr/>
          <p:nvPr/>
        </p:nvSpPr>
        <p:spPr>
          <a:xfrm>
            <a:off x="13512641" y="6419850"/>
            <a:ext cx="4285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SCDF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5556349" y="6406515"/>
            <a:ext cx="62329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Notified ✓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13360241" y="8883015"/>
            <a:ext cx="2895600" cy="481965"/>
          </a:xfrm>
          <a:prstGeom prst="roundRect">
            <a:avLst>
              <a:gd name="adj" fmla="val 23715"/>
            </a:avLst>
          </a:prstGeom>
          <a:ln w="7620">
            <a:solidFill>
              <a:srgbClr val="16110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457777" y="9023985"/>
            <a:ext cx="27005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request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12943999" y="9955531"/>
            <a:ext cx="372808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 </a:t>
            </a:r>
            <a:pPr algn="ctr" indent="0" marL="0">
              <a:lnSpc>
                <a:spcPct val="140000"/>
              </a:lnSpc>
              <a:buNone/>
            </a:pPr>
            <a:r>
              <a:rPr lang="en-US" sz="135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IS COMING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65" name="Text 63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904827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311057" y="762000"/>
            <a:ext cx="62444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· ADMIN / REVIEWER CONSOLE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reviewer console.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487930"/>
            <a:ext cx="16459200" cy="6667500"/>
          </a:xfrm>
          <a:prstGeom prst="roundRect">
            <a:avLst>
              <a:gd name="adj" fmla="val 1143"/>
            </a:avLst>
          </a:prstGeom>
          <a:solidFill>
            <a:srgbClr val="EBE1D1"/>
          </a:solidFill>
          <a:ln w="7620">
            <a:solidFill>
              <a:srgbClr val="16110D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2020" y="2495550"/>
            <a:ext cx="2286000" cy="6652260"/>
          </a:xfrm>
          <a:prstGeom prst="rect">
            <a:avLst/>
          </a:prstGeom>
          <a:solidFill>
            <a:srgbClr val="16110D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2762250"/>
            <a:ext cx="1905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</a:t>
            </a:r>
            <a:pPr algn="l" indent="0" marL="0">
              <a:lnSpc>
                <a:spcPct val="140000"/>
              </a:lnSpc>
              <a:buNone/>
            </a:pPr>
            <a:r>
              <a:rPr lang="en-US" sz="2100" i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64920" y="3516630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150620" y="3869055"/>
            <a:ext cx="1828800" cy="390525"/>
          </a:xfrm>
          <a:prstGeom prst="roundRect">
            <a:avLst>
              <a:gd name="adj" fmla="val 14634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0620" y="3869055"/>
            <a:ext cx="22860" cy="390525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12" name="Text 10"/>
          <p:cNvSpPr/>
          <p:nvPr/>
        </p:nvSpPr>
        <p:spPr>
          <a:xfrm>
            <a:off x="1259205" y="3964305"/>
            <a:ext cx="16821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64920" y="4411980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264920" y="4859655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64920" y="5307330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emergencies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64920" y="5755005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64920" y="6202680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rights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64920" y="6650355"/>
            <a:ext cx="1676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150620" y="8721090"/>
            <a:ext cx="19050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spc="12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A. SEE SIANG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50920" y="2800350"/>
            <a:ext cx="4626014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Verifications queue · Jalan Besar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4351675" y="3202305"/>
            <a:ext cx="940594" cy="1524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4351675" y="2990850"/>
            <a:ext cx="101679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137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(8)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5406569" y="2990850"/>
            <a:ext cx="78605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137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6230720" y="2990850"/>
            <a:ext cx="86856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137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3550920" y="3436620"/>
            <a:ext cx="3253740" cy="908685"/>
          </a:xfrm>
          <a:prstGeom prst="roundRect">
            <a:avLst>
              <a:gd name="adj" fmla="val 6289"/>
            </a:avLst>
          </a:prstGeom>
          <a:solidFill>
            <a:srgbClr val="F4EDE2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0920" y="3436620"/>
            <a:ext cx="22860" cy="908685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27" name="Text 25"/>
          <p:cNvSpPr/>
          <p:nvPr/>
        </p:nvSpPr>
        <p:spPr>
          <a:xfrm>
            <a:off x="3764280" y="3608070"/>
            <a:ext cx="293537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3764280" y="4027170"/>
            <a:ext cx="29353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· VERIFIED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957060" y="3436620"/>
            <a:ext cx="3253740" cy="908685"/>
          </a:xfrm>
          <a:prstGeom prst="roundRect">
            <a:avLst>
              <a:gd name="adj" fmla="val 6289"/>
            </a:avLst>
          </a:prstGeom>
          <a:solidFill>
            <a:srgbClr val="F4EDE2"/>
          </a:solidFill>
          <a:ln/>
        </p:spPr>
      </p:sp>
      <p:sp>
        <p:nvSpPr>
          <p:cNvPr id="30" name="Shape 28"/>
          <p:cNvSpPr/>
          <p:nvPr/>
        </p:nvSpPr>
        <p:spPr>
          <a:xfrm>
            <a:off x="6957060" y="3436620"/>
            <a:ext cx="22860" cy="908685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31" name="Text 29"/>
          <p:cNvSpPr/>
          <p:nvPr/>
        </p:nvSpPr>
        <p:spPr>
          <a:xfrm>
            <a:off x="7170420" y="3608070"/>
            <a:ext cx="293537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874</a:t>
            </a:r>
            <a:endParaRPr lang="en-US" sz="2850" dirty="0"/>
          </a:p>
        </p:txBody>
      </p:sp>
      <p:sp>
        <p:nvSpPr>
          <p:cNvPr id="32" name="Text 30"/>
          <p:cNvSpPr/>
          <p:nvPr/>
        </p:nvSpPr>
        <p:spPr>
          <a:xfrm>
            <a:off x="7170420" y="4027170"/>
            <a:ext cx="29353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 · ACTIVE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10363200" y="3436620"/>
            <a:ext cx="3253740" cy="908685"/>
          </a:xfrm>
          <a:prstGeom prst="roundRect">
            <a:avLst>
              <a:gd name="adj" fmla="val 6289"/>
            </a:avLst>
          </a:prstGeom>
          <a:solidFill>
            <a:srgbClr val="D04A1A">
              <a:alpha val="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363200" y="3436620"/>
            <a:ext cx="22860" cy="908685"/>
          </a:xfrm>
          <a:prstGeom prst="rect">
            <a:avLst/>
          </a:prstGeom>
          <a:solidFill>
            <a:srgbClr val="A73611"/>
          </a:solidFill>
          <a:ln/>
        </p:spPr>
      </p:sp>
      <p:sp>
        <p:nvSpPr>
          <p:cNvPr id="35" name="Text 33"/>
          <p:cNvSpPr/>
          <p:nvPr/>
        </p:nvSpPr>
        <p:spPr>
          <a:xfrm>
            <a:off x="10576560" y="3608070"/>
            <a:ext cx="293537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0" dirty="0"/>
          </a:p>
        </p:txBody>
      </p:sp>
      <p:sp>
        <p:nvSpPr>
          <p:cNvPr id="36" name="Text 34"/>
          <p:cNvSpPr/>
          <p:nvPr/>
        </p:nvSpPr>
        <p:spPr>
          <a:xfrm>
            <a:off x="10576560" y="4027170"/>
            <a:ext cx="29353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EMERGENCIES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13769340" y="3436620"/>
            <a:ext cx="3253740" cy="908685"/>
          </a:xfrm>
          <a:prstGeom prst="roundRect">
            <a:avLst>
              <a:gd name="adj" fmla="val 6289"/>
            </a:avLst>
          </a:prstGeom>
          <a:solidFill>
            <a:srgbClr val="F4EDE2"/>
          </a:solidFill>
          <a:ln/>
        </p:spPr>
      </p:sp>
      <p:sp>
        <p:nvSpPr>
          <p:cNvPr id="38" name="Shape 36"/>
          <p:cNvSpPr/>
          <p:nvPr/>
        </p:nvSpPr>
        <p:spPr>
          <a:xfrm>
            <a:off x="13769340" y="3436620"/>
            <a:ext cx="22860" cy="908685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39" name="Text 37"/>
          <p:cNvSpPr/>
          <p:nvPr/>
        </p:nvSpPr>
        <p:spPr>
          <a:xfrm>
            <a:off x="13982700" y="3608070"/>
            <a:ext cx="293537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850" dirty="0"/>
          </a:p>
        </p:txBody>
      </p:sp>
      <p:sp>
        <p:nvSpPr>
          <p:cNvPr id="40" name="Text 38"/>
          <p:cNvSpPr/>
          <p:nvPr/>
        </p:nvSpPr>
        <p:spPr>
          <a:xfrm>
            <a:off x="13982700" y="4027170"/>
            <a:ext cx="29353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32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≤ 2 KM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3550920" y="4554855"/>
            <a:ext cx="13472160" cy="4288155"/>
          </a:xfrm>
          <a:prstGeom prst="roundRect">
            <a:avLst>
              <a:gd name="adj" fmla="val 1333"/>
            </a:avLst>
          </a:prstGeom>
          <a:solidFill>
            <a:srgbClr val="F4EDE2"/>
          </a:solidFill>
          <a:ln/>
        </p:spPr>
      </p:sp>
      <p:sp>
        <p:nvSpPr>
          <p:cNvPr id="42" name="Shape 40"/>
          <p:cNvSpPr/>
          <p:nvPr/>
        </p:nvSpPr>
        <p:spPr>
          <a:xfrm>
            <a:off x="3741420" y="5027295"/>
            <a:ext cx="2602825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817620" y="4802505"/>
            <a:ext cx="252851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2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44245" y="5027295"/>
            <a:ext cx="2037278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20445" y="4802505"/>
            <a:ext cx="196107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2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381524" y="5027295"/>
            <a:ext cx="308240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457724" y="4802505"/>
            <a:ext cx="302248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2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NEXT-OF-KIN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1463933" y="5027295"/>
            <a:ext cx="1560552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1540133" y="4802505"/>
            <a:ext cx="148435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2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3024485" y="5027295"/>
            <a:ext cx="2332196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3100685" y="4802505"/>
            <a:ext cx="225599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spc="120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356681" y="5027295"/>
            <a:ext cx="147589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741420" y="5648325"/>
            <a:ext cx="2602825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817620" y="5179695"/>
            <a:ext cx="80510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Ah Mui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817620" y="5358765"/>
            <a:ext cx="2526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· F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44245" y="5648325"/>
            <a:ext cx="2037278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20445" y="5168265"/>
            <a:ext cx="196107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207 #06-22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381524" y="5648325"/>
            <a:ext cx="308240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457724" y="5168265"/>
            <a:ext cx="30224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Wei Ling · Daughter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1463933" y="5648325"/>
            <a:ext cx="1560552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540133" y="5168265"/>
            <a:ext cx="14843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3024485" y="5648325"/>
            <a:ext cx="2332196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3100685" y="5233988"/>
            <a:ext cx="794028" cy="222885"/>
          </a:xfrm>
          <a:prstGeom prst="roundRect">
            <a:avLst>
              <a:gd name="adj" fmla="val 50000"/>
            </a:avLst>
          </a:prstGeom>
          <a:solidFill>
            <a:srgbClr val="C8923C">
              <a:alpha val="1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3214985" y="5272088"/>
            <a:ext cx="64162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C8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15356681" y="5648325"/>
            <a:ext cx="147589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5432881" y="5168265"/>
            <a:ext cx="139969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→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741420" y="6269355"/>
            <a:ext cx="2602825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3817620" y="5800725"/>
            <a:ext cx="126468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Ismail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817620" y="5979795"/>
            <a:ext cx="2526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· 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344245" y="6269355"/>
            <a:ext cx="2037278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420445" y="5789295"/>
            <a:ext cx="196107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211 #04-12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381524" y="6269355"/>
            <a:ext cx="308240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457724" y="5789295"/>
            <a:ext cx="30224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Ismail · Son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1463933" y="6269355"/>
            <a:ext cx="1560552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1540133" y="5789295"/>
            <a:ext cx="14843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May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3024485" y="6269355"/>
            <a:ext cx="2332196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3100685" y="5855018"/>
            <a:ext cx="794028" cy="222885"/>
          </a:xfrm>
          <a:prstGeom prst="roundRect">
            <a:avLst>
              <a:gd name="adj" fmla="val 50000"/>
            </a:avLst>
          </a:prstGeom>
          <a:solidFill>
            <a:srgbClr val="C8923C">
              <a:alpha val="1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3214985" y="5893118"/>
            <a:ext cx="64162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C8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79" name="Shape 77"/>
          <p:cNvSpPr/>
          <p:nvPr/>
        </p:nvSpPr>
        <p:spPr>
          <a:xfrm>
            <a:off x="15356681" y="6269355"/>
            <a:ext cx="147589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5432881" y="5789295"/>
            <a:ext cx="139969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→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741420" y="6890385"/>
            <a:ext cx="2602825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3817620" y="6421755"/>
            <a:ext cx="9713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 Geok Hua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817620" y="6600825"/>
            <a:ext cx="2526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· F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344245" y="6890385"/>
            <a:ext cx="2037278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6420445" y="6410325"/>
            <a:ext cx="196107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219 #11-08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8381524" y="6890385"/>
            <a:ext cx="308240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8457724" y="6410325"/>
            <a:ext cx="30224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 Wei Ming · Son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11463933" y="6890385"/>
            <a:ext cx="1560552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1540133" y="6410325"/>
            <a:ext cx="14843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May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13024485" y="6890385"/>
            <a:ext cx="2332196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3100685" y="6476048"/>
            <a:ext cx="794028" cy="222885"/>
          </a:xfrm>
          <a:prstGeom prst="roundRect">
            <a:avLst>
              <a:gd name="adj" fmla="val 50000"/>
            </a:avLst>
          </a:prstGeom>
          <a:solidFill>
            <a:srgbClr val="C8923C">
              <a:alpha val="18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13214985" y="6514148"/>
            <a:ext cx="64162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C8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93" name="Shape 91"/>
          <p:cNvSpPr/>
          <p:nvPr/>
        </p:nvSpPr>
        <p:spPr>
          <a:xfrm>
            <a:off x="15356681" y="6890385"/>
            <a:ext cx="147589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15432881" y="6410325"/>
            <a:ext cx="139969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→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3741420" y="7511415"/>
            <a:ext cx="2602825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3817620" y="7042785"/>
            <a:ext cx="98536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Krishnan Devi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3817620" y="7221855"/>
            <a:ext cx="2526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· F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44245" y="7511415"/>
            <a:ext cx="2037278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6420445" y="7031355"/>
            <a:ext cx="196107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222 #02-15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8381524" y="7511415"/>
            <a:ext cx="308240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8457724" y="7031355"/>
            <a:ext cx="30224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Krishnan · Husband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11463933" y="7511415"/>
            <a:ext cx="1560552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11540133" y="7031355"/>
            <a:ext cx="14843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May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13024485" y="7511415"/>
            <a:ext cx="2332196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3100685" y="7097078"/>
            <a:ext cx="1049060" cy="222885"/>
          </a:xfrm>
          <a:prstGeom prst="roundRect">
            <a:avLst>
              <a:gd name="adj" fmla="val 50000"/>
            </a:avLst>
          </a:prstGeom>
          <a:solidFill>
            <a:srgbClr val="D04A1A">
              <a:alpha val="18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13214985" y="7135178"/>
            <a:ext cx="89666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A73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MINOR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15356681" y="7511415"/>
            <a:ext cx="147589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15432881" y="7031355"/>
            <a:ext cx="139969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→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3741420" y="8132445"/>
            <a:ext cx="2602825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3817620" y="7663815"/>
            <a:ext cx="9209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Goh Ah Seng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3817620" y="7842885"/>
            <a:ext cx="2526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· M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6344245" y="8132445"/>
            <a:ext cx="2037278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6420445" y="7652385"/>
            <a:ext cx="196107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Blk 225 #09-04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8381524" y="8132445"/>
            <a:ext cx="308240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15" name="Text 113"/>
          <p:cNvSpPr/>
          <p:nvPr/>
        </p:nvSpPr>
        <p:spPr>
          <a:xfrm>
            <a:off x="8457724" y="7652385"/>
            <a:ext cx="30224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Goh Mei Lin · Daughter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11463933" y="8132445"/>
            <a:ext cx="1560552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11540133" y="7652385"/>
            <a:ext cx="14843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May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13024485" y="8132445"/>
            <a:ext cx="2332196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3100685" y="7718107"/>
            <a:ext cx="812483" cy="222885"/>
          </a:xfrm>
          <a:prstGeom prst="roundRect">
            <a:avLst>
              <a:gd name="adj" fmla="val 50000"/>
            </a:avLst>
          </a:prstGeom>
          <a:solidFill>
            <a:srgbClr val="16110D">
              <a:alpha val="8000"/>
            </a:srgbClr>
          </a:solidFill>
          <a:ln/>
        </p:spPr>
      </p:sp>
      <p:sp>
        <p:nvSpPr>
          <p:cNvPr id="120" name="Text 118"/>
          <p:cNvSpPr/>
          <p:nvPr/>
        </p:nvSpPr>
        <p:spPr>
          <a:xfrm>
            <a:off x="13214985" y="7756207"/>
            <a:ext cx="6600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121" name="Shape 119"/>
          <p:cNvSpPr/>
          <p:nvPr/>
        </p:nvSpPr>
        <p:spPr>
          <a:xfrm>
            <a:off x="15356681" y="8132445"/>
            <a:ext cx="1475899" cy="9525"/>
          </a:xfrm>
          <a:prstGeom prst="rect">
            <a:avLst/>
          </a:prstGeom>
          <a:solidFill>
            <a:srgbClr val="16110D">
              <a:alpha val="10000"/>
            </a:srgbClr>
          </a:solidFill>
          <a:ln/>
        </p:spPr>
      </p:sp>
      <p:sp>
        <p:nvSpPr>
          <p:cNvPr id="122" name="Text 120"/>
          <p:cNvSpPr/>
          <p:nvPr/>
        </p:nvSpPr>
        <p:spPr>
          <a:xfrm>
            <a:off x="15432881" y="7652385"/>
            <a:ext cx="139969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→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124" name="Text 122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1722894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985677" y="762000"/>
            <a:ext cx="34895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backend, four frontends, layered defences.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487930"/>
            <a:ext cx="16459200" cy="1333500"/>
          </a:xfrm>
          <a:prstGeom prst="roundRect">
            <a:avLst>
              <a:gd name="adj" fmla="val 2857"/>
            </a:avLst>
          </a:prstGeom>
          <a:solidFill>
            <a:srgbClr val="EBE1D1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819400"/>
            <a:ext cx="217170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21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01 · CHANNELS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57300" y="3086100"/>
            <a:ext cx="1515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95700" y="27546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10" name="Text 8"/>
          <p:cNvSpPr/>
          <p:nvPr/>
        </p:nvSpPr>
        <p:spPr>
          <a:xfrm>
            <a:off x="3867150" y="28879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867150" y="3259455"/>
            <a:ext cx="116705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TLS 1.3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62788" y="27546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13" name="Text 11"/>
          <p:cNvSpPr/>
          <p:nvPr/>
        </p:nvSpPr>
        <p:spPr>
          <a:xfrm>
            <a:off x="7234238" y="28879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234238" y="3259455"/>
            <a:ext cx="12283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 · OTP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429875" y="27546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1325" y="28879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601325" y="3259455"/>
            <a:ext cx="139946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· BIOMETRIC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96963" y="27546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19" name="Text 17"/>
          <p:cNvSpPr/>
          <p:nvPr/>
        </p:nvSpPr>
        <p:spPr>
          <a:xfrm>
            <a:off x="13968413" y="28879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968413" y="3259455"/>
            <a:ext cx="147256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· BIOMETRIC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4050030"/>
            <a:ext cx="16459200" cy="1333500"/>
          </a:xfrm>
          <a:prstGeom prst="roundRect">
            <a:avLst>
              <a:gd name="adj" fmla="val 2857"/>
            </a:avLst>
          </a:prstGeom>
          <a:solidFill>
            <a:srgbClr val="A73611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4381500"/>
            <a:ext cx="217170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21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02 · EDGE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57300" y="4648200"/>
            <a:ext cx="1825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695700" y="43167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67150" y="44500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· OAuth2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3867150" y="4821555"/>
            <a:ext cx="149697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MFA, SESSION MGMT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62788" y="43167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34238" y="44500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234238" y="4821555"/>
            <a:ext cx="13310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PER-USER, PER-IP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429875" y="43167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601325" y="44500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601325" y="4821555"/>
            <a:ext cx="107942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96963" y="431673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968413" y="445008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logger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968413" y="4821555"/>
            <a:ext cx="129397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TRAIL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" y="5612130"/>
            <a:ext cx="16459200" cy="1630680"/>
          </a:xfrm>
          <a:prstGeom prst="roundRect">
            <a:avLst>
              <a:gd name="adj" fmla="val 2336"/>
            </a:avLst>
          </a:prstGeom>
          <a:solidFill>
            <a:srgbClr val="16110D"/>
          </a:solidFill>
          <a:ln/>
        </p:spPr>
      </p:sp>
      <p:sp>
        <p:nvSpPr>
          <p:cNvPr id="37" name="Text 35"/>
          <p:cNvSpPr/>
          <p:nvPr/>
        </p:nvSpPr>
        <p:spPr>
          <a:xfrm>
            <a:off x="1257300" y="5878830"/>
            <a:ext cx="217170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21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03 · SERVICES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257300" y="6145530"/>
            <a:ext cx="170080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core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3695700" y="602742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867150" y="616077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RBAC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3867150" y="6532245"/>
            <a:ext cx="141351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4-ROLE HIERARCHY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62788" y="602742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234238" y="616077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 engine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7234238" y="6532245"/>
            <a:ext cx="14694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KM RADIUS MATCH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429875" y="602742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601325" y="616077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dispatcher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601325" y="6532245"/>
            <a:ext cx="113085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/ MINOR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3796963" y="602742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3968413" y="616077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fanout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3968413" y="6532245"/>
            <a:ext cx="121134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WA / SMS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14400" y="7471410"/>
            <a:ext cx="16459200" cy="1630680"/>
          </a:xfrm>
          <a:prstGeom prst="roundRect">
            <a:avLst>
              <a:gd name="adj" fmla="val 2336"/>
            </a:avLst>
          </a:prstGeom>
          <a:solidFill>
            <a:srgbClr val="EBE1D1"/>
          </a:solidFill>
          <a:ln/>
        </p:spPr>
      </p:sp>
      <p:sp>
        <p:nvSpPr>
          <p:cNvPr id="52" name="Text 50"/>
          <p:cNvSpPr/>
          <p:nvPr/>
        </p:nvSpPr>
        <p:spPr>
          <a:xfrm>
            <a:off x="1257300" y="7738110"/>
            <a:ext cx="217170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21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04 · DATA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257300" y="8004810"/>
            <a:ext cx="153209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stores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3695700" y="788670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55" name="Text 53"/>
          <p:cNvSpPr/>
          <p:nvPr/>
        </p:nvSpPr>
        <p:spPr>
          <a:xfrm>
            <a:off x="3867150" y="802005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vault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3867150" y="8391525"/>
            <a:ext cx="153340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AES-256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62788" y="788670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58" name="Text 56"/>
          <p:cNvSpPr/>
          <p:nvPr/>
        </p:nvSpPr>
        <p:spPr>
          <a:xfrm>
            <a:off x="7234238" y="802005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vault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7234238" y="8391525"/>
            <a:ext cx="154174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KEYSPACE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429875" y="788670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61" name="Text 59"/>
          <p:cNvSpPr/>
          <p:nvPr/>
        </p:nvSpPr>
        <p:spPr>
          <a:xfrm>
            <a:off x="10601325" y="802005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time-series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0601325" y="8391525"/>
            <a:ext cx="129206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AUTO-EXPIRY 24H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3796963" y="7886700"/>
            <a:ext cx="3233738" cy="800100"/>
          </a:xfrm>
          <a:prstGeom prst="roundRect">
            <a:avLst>
              <a:gd name="adj" fmla="val 4762"/>
            </a:avLst>
          </a:prstGeom>
          <a:solidFill>
            <a:srgbClr val="F4EDE2"/>
          </a:solidFill>
          <a:ln/>
        </p:spPr>
      </p:sp>
      <p:sp>
        <p:nvSpPr>
          <p:cNvPr id="64" name="Text 62"/>
          <p:cNvSpPr/>
          <p:nvPr/>
        </p:nvSpPr>
        <p:spPr>
          <a:xfrm>
            <a:off x="13968413" y="8020050"/>
            <a:ext cx="29775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ledger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3968413" y="8391525"/>
            <a:ext cx="10379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08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67" name="Text 65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1009709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272492" y="762000"/>
            <a:ext cx="42241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&amp; PRIVACY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product.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5933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and health data are not auxiliary — they are the platform's most sensitive asset. Every design decision answers to that.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895850"/>
            <a:ext cx="8341995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54780"/>
            <a:ext cx="647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14500" y="3897630"/>
            <a:ext cx="77681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end-to-end.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14500" y="4282440"/>
            <a:ext cx="7768152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in transit. AES-256 field-level at rest. Health data isolated in a separate keyspace from identity.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6187440"/>
            <a:ext cx="8341995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46370"/>
            <a:ext cx="647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14500" y="5189220"/>
            <a:ext cx="77681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RBAC.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14500" y="5574030"/>
            <a:ext cx="7768152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4-role hierarchy is enforced at the API layer, not just the UI. Admins cannot bypass audit; reviewers cannot escalate.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7479030"/>
            <a:ext cx="8341995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537960"/>
            <a:ext cx="647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14500" y="6480810"/>
            <a:ext cx="77681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authentication.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14500" y="6865620"/>
            <a:ext cx="7768152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mandatory for Reviewers and Admins. Biometric login on iOS and Android. Session bound to device fingerprint.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400" y="8770620"/>
            <a:ext cx="8341995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7829550"/>
            <a:ext cx="647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714500" y="7772400"/>
            <a:ext cx="77681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trail.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14500" y="8157210"/>
            <a:ext cx="7768152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 of vulnerable data, every right-grant, every emergency activation is logged to an append-only ledger.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" y="9121140"/>
            <a:ext cx="647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714500" y="9063990"/>
            <a:ext cx="776815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minimisation.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714500" y="9448800"/>
            <a:ext cx="7768152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pings auto-expire at 24h. We collect only what's required.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789795" y="3764280"/>
            <a:ext cx="7583805" cy="6057900"/>
          </a:xfrm>
          <a:prstGeom prst="roundRect">
            <a:avLst>
              <a:gd name="adj" fmla="val 629"/>
            </a:avLst>
          </a:prstGeom>
          <a:solidFill>
            <a:srgbClr val="16110D"/>
          </a:solidFill>
          <a:ln/>
        </p:spPr>
      </p:sp>
      <p:sp>
        <p:nvSpPr>
          <p:cNvPr id="27" name="Text 25"/>
          <p:cNvSpPr/>
          <p:nvPr/>
        </p:nvSpPr>
        <p:spPr>
          <a:xfrm>
            <a:off x="10208895" y="4221480"/>
            <a:ext cx="69479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POSTURE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08895" y="4770120"/>
            <a:ext cx="6947973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meet Singapore's PDPA — and prepared for the standards that will come next.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0062210" y="6507480"/>
            <a:ext cx="6968490" cy="196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PDPA-aligned consent, retention, and breach notification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independent penetration test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bounty open to the security community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Government-cloud hosting, data resident in Singapore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access review by Admin &amp; external auditor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673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34183" y="917258"/>
            <a:ext cx="13862567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25349" y="762000"/>
            <a:ext cx="13244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324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10640"/>
            <a:ext cx="169529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pilot to national platform.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487930"/>
            <a:ext cx="3971925" cy="5143500"/>
          </a:xfrm>
          <a:prstGeom prst="roundRect">
            <a:avLst>
              <a:gd name="adj" fmla="val 959"/>
            </a:avLst>
          </a:prstGeom>
          <a:solidFill>
            <a:srgbClr val="EBE1D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487930"/>
            <a:ext cx="3971925" cy="3810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2830830"/>
            <a:ext cx="35416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4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1100" y="3215640"/>
            <a:ext cx="354168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— one GRC.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4418" y="3722370"/>
            <a:ext cx="3641408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WhatsApp + App first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4-role MVP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/ Minor flows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reviewer queue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vulnerable, 1.5k volunteers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5076825" y="2487930"/>
            <a:ext cx="3971925" cy="5143500"/>
          </a:xfrm>
          <a:prstGeom prst="roundRect">
            <a:avLst>
              <a:gd name="adj" fmla="val 959"/>
            </a:avLst>
          </a:prstGeom>
          <a:solidFill>
            <a:srgbClr val="EBE1D1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6825" y="2487930"/>
            <a:ext cx="3971925" cy="3810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343525" y="2830830"/>
            <a:ext cx="35416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4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3525" y="3215640"/>
            <a:ext cx="354168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multi-GRC.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16843" y="3722370"/>
            <a:ext cx="3641408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&amp; Android native apps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UI (EN · ZH · MS · TA)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dashboards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SCDF myResponder integration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GRCs onboarded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239250" y="2487930"/>
            <a:ext cx="3971925" cy="5143500"/>
          </a:xfrm>
          <a:prstGeom prst="roundRect">
            <a:avLst>
              <a:gd name="adj" fmla="val 959"/>
            </a:avLst>
          </a:prstGeom>
          <a:solidFill>
            <a:srgbClr val="16110D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9250" y="2487930"/>
            <a:ext cx="3971925" cy="38100"/>
          </a:xfrm>
          <a:prstGeom prst="rect">
            <a:avLst/>
          </a:prstGeom>
          <a:solidFill>
            <a:srgbClr val="F0A35E"/>
          </a:solidFill>
          <a:ln/>
        </p:spPr>
      </p:sp>
      <p:sp>
        <p:nvSpPr>
          <p:cNvPr id="18" name="Text 16"/>
          <p:cNvSpPr/>
          <p:nvPr/>
        </p:nvSpPr>
        <p:spPr>
          <a:xfrm>
            <a:off x="9505950" y="2830830"/>
            <a:ext cx="35416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40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2027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5950" y="3215640"/>
            <a:ext cx="354168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escalation.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79268" y="3722370"/>
            <a:ext cx="3641408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fall-detection ingest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skill-aware routing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/ simulation mode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Coverage-gap heatmap for grassroots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Voice-activated SOS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3401675" y="2487930"/>
            <a:ext cx="3971925" cy="5143500"/>
          </a:xfrm>
          <a:prstGeom prst="roundRect">
            <a:avLst>
              <a:gd name="adj" fmla="val 959"/>
            </a:avLst>
          </a:prstGeom>
          <a:solidFill>
            <a:srgbClr val="EBE1D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01675" y="2487930"/>
            <a:ext cx="3971925" cy="38100"/>
          </a:xfrm>
          <a:prstGeom prst="rect">
            <a:avLst/>
          </a:prstGeom>
          <a:solidFill>
            <a:srgbClr val="D04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3668375" y="2830830"/>
            <a:ext cx="35416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4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668375" y="3215640"/>
            <a:ext cx="354168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24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541693" y="3722370"/>
            <a:ext cx="3641408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17 GRCs &amp; SMCs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Cross-GRC volunteer mobility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coverage transparency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research datasets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2A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 for VWOs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2518"/>
            <a:ext cx="1695297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504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2768798"/>
            <a:ext cx="14716125" cy="235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300" spc="-279" kern="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we ask, to turn this proposal into a </a:t>
            </a:r>
            <a:pPr algn="l" indent="0" marL="0">
              <a:lnSpc>
                <a:spcPct val="98000"/>
              </a:lnSpc>
              <a:buNone/>
            </a:pPr>
            <a:r>
              <a:rPr lang="en-US" sz="9300" i="1" spc="-279" kern="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network.</a:t>
            </a:r>
            <a:endParaRPr lang="en-US" sz="9300" dirty="0"/>
          </a:p>
        </p:txBody>
      </p:sp>
      <p:sp>
        <p:nvSpPr>
          <p:cNvPr id="4" name="Shape 2"/>
          <p:cNvSpPr/>
          <p:nvPr/>
        </p:nvSpPr>
        <p:spPr>
          <a:xfrm>
            <a:off x="914400" y="5845612"/>
            <a:ext cx="16459200" cy="9525"/>
          </a:xfrm>
          <a:prstGeom prst="rect">
            <a:avLst/>
          </a:prstGeom>
          <a:solidFill>
            <a:srgbClr val="F4EDE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310432"/>
            <a:ext cx="5415534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7285792"/>
            <a:ext cx="541553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GRC.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7739182"/>
            <a:ext cx="541553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a single GRC partnership for a 9-month pilot, building on the Jalan Besar Fire Kaki foundation.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15100" y="6310432"/>
            <a:ext cx="5415534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515100" y="7285792"/>
            <a:ext cx="541553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SCDF bridge.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15100" y="7739182"/>
            <a:ext cx="541553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Working-level access to align Fire Kaki dispatch with SCDF myResponder so volunteers complement, never duplicate.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15800" y="6310432"/>
            <a:ext cx="5415534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2115800" y="7285792"/>
            <a:ext cx="541553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F4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trust framework.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115800" y="7739182"/>
            <a:ext cx="541553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review with IMDA &amp; PDPC on consent flows, retention, and audit — so trust is institutional, not assumed.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627775" y="9865995"/>
            <a:ext cx="95250" cy="95250"/>
          </a:xfrm>
          <a:prstGeom prst="ellipse">
            <a:avLst/>
          </a:prstGeom>
          <a:solidFill>
            <a:srgbClr val="D04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3856375" y="9829800"/>
            <a:ext cx="36227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216" kern="0" dirty="0">
                <a:solidFill>
                  <a:srgbClr val="F4EDE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A COMMUNITY LIFELINE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34590"/>
            <a:ext cx="1695297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378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3112770"/>
            <a:ext cx="16952976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0" spc="-840" kern="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</a:t>
            </a:r>
            <a:pPr algn="l" indent="0" marL="0">
              <a:lnSpc>
                <a:spcPct val="90000"/>
              </a:lnSpc>
              <a:buNone/>
            </a:pPr>
            <a:r>
              <a:rPr lang="en-US" sz="21000" i="1" spc="-840" kern="0" dirty="0">
                <a:solidFill>
                  <a:srgbClr val="D0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0" dirty="0"/>
          </a:p>
        </p:txBody>
      </p:sp>
      <p:sp>
        <p:nvSpPr>
          <p:cNvPr id="4" name="Shape 2"/>
          <p:cNvSpPr/>
          <p:nvPr/>
        </p:nvSpPr>
        <p:spPr>
          <a:xfrm>
            <a:off x="914400" y="6275070"/>
            <a:ext cx="16459200" cy="9525"/>
          </a:xfrm>
          <a:prstGeom prst="rect">
            <a:avLst/>
          </a:prstGeom>
          <a:solidFill>
            <a:srgbClr val="16110D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739890"/>
            <a:ext cx="533704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7075170"/>
            <a:ext cx="533704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See Siang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53200" y="6739890"/>
            <a:ext cx="533704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53200" y="7075170"/>
            <a:ext cx="5337048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Kaki · Community Safety Network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0" y="6739890"/>
            <a:ext cx="533704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243" kern="0" dirty="0">
                <a:solidFill>
                  <a:srgbClr val="1611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192000" y="7075170"/>
            <a:ext cx="533704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 Besar Fire Safety Kakis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2026-05-06T06:51:35Z</dcterms:created>
  <dcterms:modified xsi:type="dcterms:W3CDTF">2026-05-06T06:51:35Z</dcterms:modified>
</cp:coreProperties>
</file>